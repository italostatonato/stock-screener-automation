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19c4760a734e69" /><Relationship Type="http://schemas.openxmlformats.org/officeDocument/2006/relationships/extended-properties" Target="/docProps/app.xml" Id="R3c5c6896adfa4f2a" /><Relationship Type="http://schemas.openxmlformats.org/officeDocument/2006/relationships/officeDocument" Target="/ppt/presentation.xml" Id="R36178d022cb0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05eea18af43ba"/>
  </p:sldMasterIdLst>
  <p:notesMasterIdLst>
    <p:notesMasterId xmlns:r="http://schemas.openxmlformats.org/officeDocument/2006/relationships" r:id="R1767c6be9e9a40e1"/>
  </p:notesMasterIdLst>
  <p:sldIdLst>
    <p:sldId xmlns:r="http://schemas.openxmlformats.org/officeDocument/2006/relationships" id="256" r:id="R2aa1dfc66b104111"/>
    <p:sldId xmlns:r="http://schemas.openxmlformats.org/officeDocument/2006/relationships" id="257" r:id="R559aa11fafa64fa6"/>
    <p:sldId xmlns:r="http://schemas.openxmlformats.org/officeDocument/2006/relationships" id="258" r:id="R1fea5c1ea5d14b7e"/>
    <p:sldId xmlns:r="http://schemas.openxmlformats.org/officeDocument/2006/relationships" id="259" r:id="Rf111be5433054565"/>
    <p:sldId xmlns:r="http://schemas.openxmlformats.org/officeDocument/2006/relationships" id="260" r:id="R6181ea0809674594"/>
    <p:sldId xmlns:r="http://schemas.openxmlformats.org/officeDocument/2006/relationships" id="261" r:id="R45468856c51a4920"/>
    <p:sldId xmlns:r="http://schemas.openxmlformats.org/officeDocument/2006/relationships" id="262" r:id="Rc3775d547ae04ee6"/>
    <p:sldId xmlns:r="http://schemas.openxmlformats.org/officeDocument/2006/relationships" id="263" r:id="R5c1b594c152a49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2e4844a3e4780" /><Relationship Type="http://schemas.openxmlformats.org/officeDocument/2006/relationships/slideMaster" Target="/ppt/slideMasters/slideMaster1.xml" Id="Rcb005eea18af43ba" /><Relationship Type="http://schemas.openxmlformats.org/officeDocument/2006/relationships/notesMaster" Target="/ppt/notesMasters/notesMaster1.xml" Id="R1767c6be9e9a40e1" /><Relationship Type="http://schemas.openxmlformats.org/officeDocument/2006/relationships/presProps" Target="/ppt/presProps.xml" Id="R36e15dace014485c" /><Relationship Type="http://schemas.openxmlformats.org/officeDocument/2006/relationships/tableStyles" Target="/ppt/tableStyles.xml" Id="R5af24de7620646f7" /><Relationship Type="http://schemas.openxmlformats.org/officeDocument/2006/relationships/slide" Target="/ppt/slides/slide1.xml" Id="R2aa1dfc66b104111" /><Relationship Type="http://schemas.openxmlformats.org/officeDocument/2006/relationships/slide" Target="/ppt/slides/slide2.xml" Id="R559aa11fafa64fa6" /><Relationship Type="http://schemas.openxmlformats.org/officeDocument/2006/relationships/slide" Target="/ppt/slides/slide3.xml" Id="R1fea5c1ea5d14b7e" /><Relationship Type="http://schemas.openxmlformats.org/officeDocument/2006/relationships/slide" Target="/ppt/slides/slide4.xml" Id="Rf111be5433054565" /><Relationship Type="http://schemas.openxmlformats.org/officeDocument/2006/relationships/slide" Target="/ppt/slides/slide5.xml" Id="R6181ea0809674594" /><Relationship Type="http://schemas.openxmlformats.org/officeDocument/2006/relationships/slide" Target="/ppt/slides/slide6.xml" Id="R45468856c51a4920" /><Relationship Type="http://schemas.openxmlformats.org/officeDocument/2006/relationships/slide" Target="/ppt/slides/slide7.xml" Id="Rc3775d547ae04ee6" /><Relationship Type="http://schemas.openxmlformats.org/officeDocument/2006/relationships/slide" Target="/ppt/slides/slide8.xml" Id="R5c1b594c152a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39515284db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b41a7d532466f" /><Relationship Type="http://schemas.openxmlformats.org/officeDocument/2006/relationships/notesMaster" Target="/ppt/notesMasters/notesMaster1.xml" Id="R6129e0a6be234f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e0c24d40bf475c" /><Relationship Type="http://schemas.openxmlformats.org/officeDocument/2006/relationships/notesMaster" Target="/ppt/notesMasters/notesMaster1.xml" Id="R6b93083aa5d94d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4a66c5f8f451d" /><Relationship Type="http://schemas.openxmlformats.org/officeDocument/2006/relationships/notesMaster" Target="/ppt/notesMasters/notesMaster1.xml" Id="R5c6ade58d2cd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bd8618b0ec4d5b" /><Relationship Type="http://schemas.openxmlformats.org/officeDocument/2006/relationships/notesMaster" Target="/ppt/notesMasters/notesMaster1.xml" Id="R517db8d45ab3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25cee8d5c34b11" /><Relationship Type="http://schemas.openxmlformats.org/officeDocument/2006/relationships/notesMaster" Target="/ppt/notesMasters/notesMaster1.xml" Id="R41491606ac8249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a67955bff1494d" /><Relationship Type="http://schemas.openxmlformats.org/officeDocument/2006/relationships/notesMaster" Target="/ppt/notesMasters/notesMaster1.xml" Id="Re0f0c55498f249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5180ea1ff40f5" /><Relationship Type="http://schemas.openxmlformats.org/officeDocument/2006/relationships/notesMaster" Target="/ppt/notesMasters/notesMaster1.xml" Id="R0bb9675d1b1343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5baaa33ebf4e6d" /><Relationship Type="http://schemas.openxmlformats.org/officeDocument/2006/relationships/notesMaster" Target="/ppt/notesMasters/notesMaster1.xml" Id="R65ee42c06fd0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Radar como uma leitura quantitativa acessível. Reforce que o objetivo é organizar informação, não emitir recomendação.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descrição do projeto e aviso educacional.</a:t>
            </a:r>
          </a:p>
          <a:p xmlns:a="http://schemas.openxmlformats.org/drawingml/2006/main">
            <a:r>
              <a:t>- docs/index.html — identidade visual e linguagem da interface.</a:t>
            </a:r>
          </a:p>
          <a:p xmlns:a="http://schemas.openxmlformats.org/drawingml/2006/main">
            <a:r>
              <a:t>- .presentation_build/assets/site-home.png — captura local do dashboard.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número 1.505 é a soma do universo coletado no snapshot mais recente do repositório: 549 FIIs e 956 ações. O resultado público contém 20 de cada classe.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docs/data/2026-09-02.json — kpis.total_fiis_universo, kpis.total_acoes_universo e rankings fiis/acoes.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fluxo sem entrar em bibliotecas ou nomes de arquivos. O benefício é repetibilidade: o mesmo processo é aplicado a todo o universo.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main.py — sequência de coleta, limpeza, score, seleção, persistência, modelos, exportação e qualidade.</a:t>
            </a:r>
          </a:p>
          <a:p xmlns:a="http://schemas.openxmlformats.org/drawingml/2006/main">
            <a:r>
              <a:t>- README.md — pipeline semanal e automação via GitHub Actions.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score é percentílico: compara cada ativo ao restante do universo do dia. Dados ausentes recebem uma nota neutra. Os critérios mínimos definem elegibilidade; a ordenação final usa os sete indicadores com peso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src/scorer.py — FII_WEIGHTS, ACOES_WEIGHTS e cálculo percentílico 0–100.</a:t>
            </a:r>
          </a:p>
          <a:p xmlns:a="http://schemas.openxmlformats.org/drawingml/2006/main">
            <a:r>
              <a:t>- src/filters.py — filtros mínimos de elegibilidade antes da ordenação.</a:t>
            </a:r>
          </a:p>
          <a:p xmlns:a="http://schemas.openxmlformats.org/drawingml/2006/main">
            <a:r>
              <a:t>- config.yaml — valores dos pisos de elegibilidade.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dashboard é o ponto de contato com o público: ranking, indicadores, recorrência, carteira híbrida, backtests e modelos ficam no mesmo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interface e seções do dashboard.</a:t>
            </a:r>
          </a:p>
          <a:p xmlns:a="http://schemas.openxmlformats.org/drawingml/2006/main">
            <a:r>
              <a:t>- .presentation_build/assets/site-home.png — captura local do dashboard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aqui não é prometer acerto: é tornar o processo verificável. A base incremental protege o histórico; o backtest explicita premissas; o ML permanece experimental; e a automação só publica após testes e healthcheck.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— camadas e data lake incremental.</a:t>
            </a:r>
          </a:p>
          <a:p xmlns:a="http://schemas.openxmlformats.org/drawingml/2006/main">
            <a:r>
              <a:t>- docs/BACKTEST_RETROATIVO.md — metodologia, cobertura e separação entre observado e simulado point-in-time.</a:t>
            </a:r>
          </a:p>
          <a:p xmlns:a="http://schemas.openxmlformats.org/drawingml/2006/main">
            <a:r>
              <a:t>- docs/ML_PIPELINE.md — ML em modo sombra.</a:t>
            </a:r>
          </a:p>
          <a:p xmlns:a="http://schemas.openxmlformats.org/drawingml/2006/main">
            <a:r>
              <a:t>- .github/workflows/run_screener.yml e tests/*.py — testes e healthcheck antes da 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uma orientação prática: descobrir, comparar e aprofundar. Reforce o caráter educacional e convide a audiência a explorar 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finalidade educacional e URL pública do dashboard.</a:t>
            </a:r>
          </a:p>
          <a:p xmlns:a="http://schemas.openxmlformats.org/drawingml/2006/main">
            <a:r>
              <a:t>- docs/assets/italo-profile.png — foto do criador.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referência de marca. Para peças públicas, mantenha uma ideia principal, fundo escuro, alto contraste e as cores semânticas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variáveis CSS, Roboto, raio de 24 px e semântica de cores.</a:t>
            </a:r>
          </a:p>
          <a:p xmlns:a="http://schemas.openxmlformats.org/drawingml/2006/main">
            <a:r>
              <a:t>- Inspeção visual do dashboard local renderizado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84db0f3c844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0235d5e4e141c1" /><Relationship Type="http://schemas.openxmlformats.org/officeDocument/2006/relationships/slideLayout" Target="/ppt/slideLayouts/slideLayout1.xml" Id="Rf5a24a38caf4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24a38caf4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4fa0476ca4295" /><Relationship Type="http://schemas.openxmlformats.org/officeDocument/2006/relationships/image" Target="/ppt/media/image.jpeg" Id="Rd2bc69e93863414c" /><Relationship Type="http://schemas.openxmlformats.org/officeDocument/2006/relationships/notesSlide" Target="/ppt/notesSlides/notesSlide1.xml" Id="Rbd2c71e72aa240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5b8a966cc4cc5" /><Relationship Type="http://schemas.openxmlformats.org/officeDocument/2006/relationships/notesSlide" Target="/ppt/notesSlides/notesSlide2.xml" Id="R64af55597aab4f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7724a3eb410b" /><Relationship Type="http://schemas.openxmlformats.org/officeDocument/2006/relationships/notesSlide" Target="/ppt/notesSlides/notesSlide3.xml" Id="R6614d77a5c2f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c3b29053941de" /><Relationship Type="http://schemas.openxmlformats.org/officeDocument/2006/relationships/notesSlide" Target="/ppt/notesSlides/notesSlide4.xml" Id="Rbe7427d3712547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7e75439e44977" /><Relationship Type="http://schemas.openxmlformats.org/officeDocument/2006/relationships/image" Target="/ppt/media/image2.jpeg" Id="R42f9367bd85f4351" /><Relationship Type="http://schemas.openxmlformats.org/officeDocument/2006/relationships/notesSlide" Target="/ppt/notesSlides/notesSlide5.xml" Id="R35eee796d0624c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b998c7e54d21" /><Relationship Type="http://schemas.openxmlformats.org/officeDocument/2006/relationships/notesSlide" Target="/ppt/notesSlides/notesSlide6.xml" Id="Rb89c243f7b68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d0a81108e4e0e" /><Relationship Type="http://schemas.openxmlformats.org/officeDocument/2006/relationships/image" Target="/ppt/media/image.png" Id="R45deed719ec943c3" /><Relationship Type="http://schemas.openxmlformats.org/officeDocument/2006/relationships/hyperlink" Target="https://italostatonato.github.io/stock-screener-automation/" TargetMode="External" Id="Ra85fd227ee32436e" /><Relationship Type="http://schemas.openxmlformats.org/officeDocument/2006/relationships/notesSlide" Target="/ppt/notesSlides/notesSlide7.xml" Id="Ra002487673e648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85b0f3a2141c5" /><Relationship Type="http://schemas.openxmlformats.org/officeDocument/2006/relationships/notesSlide" Target="/ppt/notesSlides/notesSlide8.xml" Id="R5e585929048540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4418E-B8E0-4452-9EFA-4E4269CC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1F537-AC88-4F1E-8D42-502D0CD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7087-D8BB-444D-AB0E-5D90E5E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BOLETIM QUANTITATIVO • BRASIL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993274-19C9-4A20-AF49-B8DC6764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7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57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Radar</a:t>
            </a:r>
            <a:r>
              <a:rPr sz="57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 Semanal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5859B-F346-49A6-B5BA-C4EBE5A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21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públicos transformados em uma leitura simples de ações e FIIs.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AD570-B231-4399-9C1C-DB7ABFA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14950" cy="37528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c69e93863414c"/>
          <a:stretch xmlns:a="http://schemas.openxmlformats.org/drawingml/2006/main"/>
        </p:blipFill>
        <p:spPr>
          <a:xfrm xmlns:a="http://schemas.openxmlformats.org/drawingml/2006/main">
            <a:off x="6381750" y="1592798"/>
            <a:ext cx="4933950" cy="2777053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6D8DE-62D9-42F7-A491-C034449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3DAE-CFC2-4454-B439-C2587E58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Ítalo Petricioni Statonato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85751-B193-4AE6-9906-5314BFE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Projeto educacional e analítico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1F19B-83BA-4E87-8459-930E0E7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5860-0AD0-4C3C-9129-54DD4D8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Ações + FIIs brasileiros</a:t>
            </a:r>
          </a:p>
        </p:txBody>
      </p:sp>
    </p:spTree>
    <p:extLst>
      <p:ext uri="{BB962C8B-B14F-4D97-AF65-F5344CB8AC3E}">
        <p14:creationId xmlns:p14="http://schemas.microsoft.com/office/powerpoint/2010/main" val="1517571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88841-74D1-4876-914A-0EACF87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DE4C-1020-4B23-933F-3080775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POR QUE EXISTE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39AE0-2BC9-46C0-A328-2FEF642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Radar transforma 1.505 ativos em uma lista curta para estudar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E8AA-F255-4CD6-BA67-25FF091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Menos tempo procurando. Mais clareza para comparar.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5909-4AB0-4355-86B6-95970F7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9136C-3B42-4C6E-915F-6AB3802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540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549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63037-73B2-40EC-AB36-B8A4976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FIIs no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B38F-8DF7-49E2-BB4E-4098FDD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fundos imobiliários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3B9CC-C937-4DA0-AA53-7DA1388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33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61FE-192F-4DB1-BE51-A736F687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540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956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A75F-B67A-43BE-9AA4-E4C3569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ações no universo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5D8F-A177-438C-985F-CAF11E0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766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empresas brasileiras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0D147-6149-4CFF-9F29-E5C12DA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36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13429-E45D-44A3-9E37-682D467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6576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54CA8-C63C-42AC-A8F8-06816738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1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61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19AB3-CD0E-4892-95FE-5242301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ativos em destaque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D4348-0769-4626-97A0-70DE0E3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B6516-821A-438C-8ED9-326902E1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20 FIIs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AF3F0-6883-430C-8E05-449657E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62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9CA9BF"/>
                </a:solidFill>
                <a:latin typeface="Roboto"/>
                <a:ea typeface="Roboto"/>
                <a:cs typeface="Roboto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1BFC9-E060-4AE1-A854-326C731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62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20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EBF0F-EA99-4EB4-9AE1-B04015C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9F8FC-6DCA-4BDD-A238-FD4E2CB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ranking não elimina a análise: ele organiza a fila do que merece atenção primeiro.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0CFF5-F6BA-4A10-B56C-67A7691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Universo e rankings do snapshot de 02/09/2026.</a:t>
            </a:r>
          </a:p>
        </p:txBody>
      </p:sp>
    </p:spTree>
    <p:extLst>
      <p:ext uri="{BB962C8B-B14F-4D97-AF65-F5344CB8AC3E}">
        <p14:creationId xmlns:p14="http://schemas.microsoft.com/office/powerpoint/2010/main" val="592121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E2EC3-9A27-4F07-BC2B-C2B0118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3A514-EF12-4B01-A455-C48ED58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5108-FC13-4110-BE95-2CE0D03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processo cabe em quatro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75387-2A48-4FF5-A500-0DD641F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Uma rotina simples de explicar — e automática de repetir.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5225-E2D4-4D61-A80D-B823928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683F-9DBA-456A-A89E-44DDAC5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6304-EE3E-41FD-BD13-E976A09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42518-8048-45AF-9C4C-44D1CAA2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65257-F96C-40CF-9735-2688E7F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Coletar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225B-7A2B-4E98-A9B8-498FADF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públicos de FIIs, ações e mercado.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DF799-F0DD-497A-BCF5-30E3C1A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2549C-F7A4-4C96-914B-18E0D40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6A735-CCDD-49B0-A0E2-BBBD032C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4FFEC-5C88-4BC1-B69B-2FB3586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Padronizar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0E2C1-4EAA-4C31-8C9D-FA933E4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Percentuais, preços e indicadores ficam comparáveis.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9F82B-9194-4225-A0B2-3EC6357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AF473-EC36-4E90-BB06-435EF7A4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19CB-4AF9-46F8-832A-D5D36A6E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EE1C4-0939-4613-A6A2-BC99C07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Pontuar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B79F4-3620-4439-9E30-139245E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Cada ativo recebe uma nota entre 0 e 100.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C822D-9DC7-4E36-838A-7CEC1F5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9BB03-238D-4505-B4A2-6D3926F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4B2A6-EC6B-492F-8764-8A53AF4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92E81-F577-41E2-99D2-63D59A1F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Publicar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E60F3-3A57-455C-BE0A-4218CDF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Ranking, histórico e contexto chegam ao painel.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9037B-8F56-4D46-A653-1C1655A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AFC6A-9CB5-4C16-BA2A-639D469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Toda semana, o mesmo método percorre o universo inteiro — sem escolher manualmente os favoritos.</a:t>
            </a:r>
          </a:p>
        </p:txBody>
      </p:sp>
    </p:spTree>
    <p:extLst>
      <p:ext uri="{BB962C8B-B14F-4D97-AF65-F5344CB8AC3E}">
        <p14:creationId xmlns:p14="http://schemas.microsoft.com/office/powerpoint/2010/main" val="161341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0AC2E1-D756-4D89-A977-414D13E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B983-ABFC-4A59-ADCC-4EAB1C1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A NOTA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636E-4BD8-4241-A30F-587A3F5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Cada ativo é comparado com seus pares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EF0BD-5583-4EB4-90BD-0173381E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Sete critérios, mesmo peso: cada um responde por 1/7 do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ED17-84F3-4BFB-AB12-C19FEA1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8BDE8-CCA9-4AD8-B749-31CAEF4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FIIs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59A7B-333A-4718-884D-9EFE0C44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1CBBA-C28F-4BC7-B629-754070C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A27BF-8160-4EB6-9762-5DBE0EC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Renda: DY médio em 12 meses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5A6E0-84F1-4A78-A4C0-F3438CA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8C518-8070-4CC4-8731-190B49E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Preço: P/VP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E7C6-FF2E-46BA-B81C-A433FBA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B238-F226-4F9A-8F02-E120109D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Liquidez diária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5106A-F7E5-43F8-9F5D-2EA6BC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19C6C-3E4F-411F-BE86-BFED25A9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Tamanho: patrimônio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7940F-D60C-4F5E-A6D3-AA990FC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4694C-96C6-4128-9E34-605193C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Desempenho no período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C7C67-C6DE-41E7-ABF4-2C74EFF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B15DF-187E-4933-8F93-AE9DC7B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Taxa de administração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1B9A9-9108-4D55-9C5C-90D0EE7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C26C-AD0B-4A38-A0F3-185223A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Taxa de 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CA5C7-AF49-404D-BF81-E7EF4027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CF66A-6102-47CE-9E52-52AE40D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Renda: dividend yield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B7C13-055F-4F63-BC79-FFEFABC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F4BCF-B2CA-4B3E-87C3-0C03FECA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Preço: P/VPA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D095B-8FF3-4252-8ABB-7477C23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F5FE7-5CA4-4D4F-947A-4CB7EB3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 operacional: EV/EBITDA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C7A0A-941C-4223-921E-A07EC0C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C4DB0-EF95-423E-8F73-54E2519F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Margem líquida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AD5AF-5119-4638-BDE5-9B63374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BBC77-A942-42A7-B352-50C70CB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Retorno sobre capital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ED6E4-D020-49E4-BF65-AAAA432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E0386-0F86-402F-BAF9-D0CC002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Retorno sobre patrimônio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9BC9C-9387-464E-B736-68896E8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C6B3B-5953-475C-A5ED-4BCA363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Liquidez de negociação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C668F-5C3C-4877-A6A3-9218CBF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6BD21-68E8-4909-B33F-8168AB1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4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0–100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E7F4AB-E6DB-4951-9850-5E67324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95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posição relativa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23C85-453D-4CC9-918F-C6CE30E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37338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4003E-3670-4448-9B90-0094A99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53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Preço e taxas: menor tende a pontuar melhor.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Nos demais critérios: maior tende a pontuar melhor.</a:t>
            </a:r>
          </a:p>
        </p:txBody>
      </p:sp>
    </p:spTree>
    <p:extLst>
      <p:ext uri="{BB962C8B-B14F-4D97-AF65-F5344CB8AC3E}">
        <p14:creationId xmlns:p14="http://schemas.microsoft.com/office/powerpoint/2010/main" val="198504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00EBE-8F36-4409-B399-D0B0A57C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535C-64EE-4C69-B4D2-DC31103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3908A-4269-406E-9F40-13EEFF0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painel transforma o ranking em 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A01A-145B-47FD-9ED6-08C7038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A pessoa pode explorar o resultado sem abrir planilhas ou código.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57171-04EA-40FD-BFEE-B9327CFF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7F8A4-70EA-430F-B726-5DECDC0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3781425"/>
          </a:xfrm>
          <a:prstGeom xmlns:a="http://schemas.openxmlformats.org/drawingml/2006/main" prst="roundRect">
            <a:avLst>
              <a:gd name="adj" fmla="val 6045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9367bd85f4351"/>
          <a:srcRect xmlns:a="http://schemas.openxmlformats.org/drawingml/2006/main" l="0" t="20630" r="0" b="20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76450"/>
            <a:ext cx="10515600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A9C23-ABCA-4A71-B885-44AFAFA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FB98-95FB-487E-B5AE-BA21A05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721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BB5C0-3189-4E13-AE2C-498AFE2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6991C-4CCB-4402-8849-735A0C6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721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contexto de mercado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4AA2C-742C-4404-82ED-F4256B7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3BFCF-2572-43F0-982B-31BB596F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histórico e recorrência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789D1-2E3F-45A7-BA80-7DF03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2CE28-E920-4E26-9B60-855D092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modelos em observação</a:t>
            </a:r>
          </a:p>
        </p:txBody>
      </p:sp>
    </p:spTree>
    <p:extLst>
      <p:ext uri="{BB962C8B-B14F-4D97-AF65-F5344CB8AC3E}">
        <p14:creationId xmlns:p14="http://schemas.microsoft.com/office/powerpoint/2010/main" val="1010995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8152B-FC52-48BD-AD0A-AF5EB56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ED06-9716-4997-9410-B435E530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POR QUE CONFIAR NO PROCESSO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03DB7-94DD-4462-B9E2-DBCF88B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Transparência vem antes de previsão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1BD1-8237-4EA4-B25B-C7B94502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O projeto registra o que fez, com quais dados e sob quais limitações.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6F18-D4B9-4D71-90F5-6E75E06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2212-3D0D-43DF-BC98-BD5D1EC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A9FA-D3E3-4125-8217-A7BB370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7631F-D2C6-4AB3-80D6-855981E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72CD7-F000-4FA0-B58D-1B88CA8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Fontes públicas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DE832-1C98-480E-BA26-DE6CAD8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9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A origem dos dados fica explícita e pode ser conferida.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9C7A-CF6E-40E9-B663-D9D5D4F9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C5C87-77A7-4654-A025-9C864F28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93024-5498-4408-B78B-C23094F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Histórico preservado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C433F-66EE-4187-8415-F946742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Snapshots incrementais permitem reconstruir os derivados.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9B2E7-3A24-4524-AA96-08F63DF2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F6171-CAFF-470F-8D91-0DA3F6B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5D1DB-DD7E-4DA2-BD63-43A3E47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Backtest auditável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BE257-EDDC-4F6D-B085-4321BFE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14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Entrada, custos, cobertura e dados ausentes são registrados.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A0F53-0828-4569-8A24-16E852C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E7EE3-B341-4B13-A80F-F9075AB2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6D08-6E98-4018-A6B4-FAB8D1B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ML em modo sombra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F7FB3-898A-47AD-A0A3-6971EF5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67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Modelos aprendem e são avaliados sem trocar o ranking oficial.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95305-995D-44AE-BFB9-A98FA9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9658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92AB6-8D32-4D6B-9AA2-539E5C10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483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Testes automatizados + healthcheck de dados antes da publicação</a:t>
            </a:r>
          </a:p>
        </p:txBody>
      </p:sp>
    </p:spTree>
    <p:extLst>
      <p:ext uri="{BB962C8B-B14F-4D97-AF65-F5344CB8AC3E}">
        <p14:creationId xmlns:p14="http://schemas.microsoft.com/office/powerpoint/2010/main" val="186886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AE4E8-1764-4348-B108-40589BA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7BB1D-0C28-4436-B93B-2EA29C9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COMO USAR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F7B1B-EDFF-459B-92A9-FD89B7D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Use o Radar para fazer perguntas melhores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8ED6-B303-4401-BB70-61F1DE3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Ele organiza o ponto de partida; a decisão continua sendo sua.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DF6BA-4E0C-4879-8948-2551D1BF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DAAEE-818D-44C7-B5FE-7627ADC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94CE7-8CA7-4E17-A5BD-1B7FD4A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7FCC9-40E5-4D55-8A75-79B947A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Descubra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587B-391E-4774-851C-68299C9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Encontre ativos que merecem uma primeira análise.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DD80-755A-449E-9C39-9499113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28D1E-66F1-4BA3-850E-3EB4D8E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86BFB-3EB8-4CA4-9015-831CB78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CDFE-5685-4DCC-A9C4-8826408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D403-012A-4364-A204-2271A8F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Entenda quais indicadores ajudaram no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36479-0A83-41C8-A1A8-3D2F38D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088D-C1EC-45D1-9DE4-664ABE6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07605-33A9-4366-BC26-EFC0847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0751-0087-447B-89EC-81C1F53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Aprofunde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F3D1C-7740-4DD3-8D6E-4F06A59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Confirme riscos, estratégia e adequação ao seu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6EAD-8B04-451F-8C8F-397EA3E7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239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9CD37-0550-4931-B06F-72E11C8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659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Radar não diz o que comprar.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Ele organiza por onde começar.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eed719ec943c3"/>
          <a:srcRect xmlns:a="http://schemas.openxmlformats.org/drawingml/2006/main" l="0" t="8357" r="0" b="8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5339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186B5-B341-40C1-827A-2A524DCD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Ítalo Petricioni Statonato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A9F74-5026-4026-9C04-3AD1BAB7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• automação • análise quantitativa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FFB1E-6185-45FF-92DD-CD64B92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C7018-876E-466E-9D24-72B3B51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11827"/>
                </a:solidFill>
                <a:latin typeface="Roboto"/>
                <a:ea typeface="Roboto"/>
                <a:cs typeface="Roboto"/>
                <a:hlinkClick xmlns:r="http://schemas.openxmlformats.org/officeDocument/2006/relationships" r:id="Ra85fd227ee32436e"/>
              </a:rPr>
              <a:t>Abrir o dashboard ↗</a:t>
            </a:r>
          </a:p>
        </p:txBody>
      </p:sp>
    </p:spTree>
    <p:extLst>
      <p:ext uri="{BB962C8B-B14F-4D97-AF65-F5344CB8AC3E}">
        <p14:creationId xmlns:p14="http://schemas.microsoft.com/office/powerpoint/2010/main" val="414014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E8664-4722-4AD4-A621-152C304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661F-F0E2-4CC3-87C2-6DF187D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APÊNDICE • GUIA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FC9E-71BF-4D97-A3A4-35C7F4A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Padrão visual do Radar Semanal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5402-B286-4BED-B021-09C3922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Um sistema simples para manter site, apresentações e posts reconhecíveis.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D3CBF-B116-4BC9-B206-0E7ADAAC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1884-A1F1-48DA-BD8C-3393917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PALETA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E21C4-DA69-47A0-846C-B4AF352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8B5F-3DFE-45C6-8382-A352A9F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A446B-53B0-4712-85D2-774C9DC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#070A12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806D5-C862-4788-B792-9868C68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6CE06-8A52-4B24-BDA4-F282AE4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Superfície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06754-FDD6-4830-BD44-0BB7195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#111A2D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E10F2-6A89-41FB-8BAC-BAAF646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4556-4683-4120-9085-6626DE2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Destaque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C901D-A33B-4228-B05E-ABEE7E3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#E3BE72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FF59-4045-45C3-96F1-74F8577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54C7FF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D7B1C-730D-49EB-B981-07486F0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1E1C1-11ED-4E92-A2AA-EB13817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#54C7FF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8DE85-2D99-4699-B772-B6317F06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C5C9A-1643-45B5-8E99-9F2F206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FIIs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C6BF9-0368-4A4A-97B5-8985B4A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#A78BFA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8CA07-0509-492E-BA40-C2659D9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A032F-F102-4867-9ECC-F7817AD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Positivo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C7443-1A13-43C6-8C11-35ADC42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#34D399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4F28-A45B-46DE-82AF-260DF67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53757-6E5A-4439-88F4-3F7F040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Negativo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0EAD5-3663-4359-9A5A-07CEF10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#FB7185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0BE9F-7DB8-49E7-9AF0-4DEB510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B672D-1497-4B86-9670-08AC4F8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Texto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144E0-0DCA-4A6B-8725-A46530E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#F5F7FB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E9E8E-1757-409F-9C50-2B7D673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01522-C1B5-419C-8006-2EC4A6A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TIPOGRAFIA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EC206-A9C9-4195-87EF-C8C914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Roboto Bold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BC024-7BBF-4FB7-94CC-BFC8EE58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Títulos diretos, uma ideia por slide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A720D-E0C8-4131-9EBE-AC2081A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Roboto Regular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1973D-94DD-42E8-A984-FD18DE1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Texto curto, concreto e sem jargão desnecessário.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5D9E8-CD2C-410D-97D3-0155D99A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COMPOSIÇÃO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6BFB7-33C2-41CF-B9C3-46AC05E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DD108-36AC-429D-860B-6D74297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16:9 • margens de 72 px • ritmo em múltiplos de 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BE4DB3-321E-4E01-9C18-236A653C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D8CFF7-D986-46E4-B4FF-1F4561B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Cantos de 24 px • bordas discretas • fundo sempre escuro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17C783-7245-4033-909D-D819BCA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1A035-4C90-489B-984B-1D83B39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007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Dourado = ênfase; ciano = ações; roxo = FIIs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F66F45-4331-46B9-8488-0E13A3D9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684EB7-1173-4304-A9BB-1897F74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436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Verde e vermelho só para estados positivos e negativos</a:t>
            </a:r>
          </a:p>
        </p:txBody>
      </p:sp>
    </p:spTree>
    <p:extLst>
      <p:ext uri="{BB962C8B-B14F-4D97-AF65-F5344CB8AC3E}">
        <p14:creationId xmlns:p14="http://schemas.microsoft.com/office/powerpoint/2010/main" val="218754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2026-09-03T00:23:43.4460000Z</dcterms:created>
  <dcterms:modified xsi:type="dcterms:W3CDTF">2026-09-03T00:23:43.4470000Z</dcterms:modified>
</coreProperties>
</file>