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 o Radar como uma leitura quantitativa acessível. Reforce que o objetivo é organizar informação, não emitir recomendação.</a:t>
            </a:r>
          </a:p>
          <a:p>
            <a:endParaRPr/>
          </a:p>
          <a:p>
            <a:r>
              <a:t>[Sources]</a:t>
            </a:r>
          </a:p>
          <a:p>
            <a:r>
              <a:t>- README.md — descrição do projeto e aviso educacional.</a:t>
            </a:r>
          </a:p>
          <a:p>
            <a:r>
              <a:t>- docs/index.html — identidade visual e linguagem da interface.</a:t>
            </a:r>
          </a:p>
          <a:p>
            <a:r>
              <a:t>- .presentation_build/assets/site-home.png — captura local do dashboard.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número 1.505 é a soma do universo coletado no snapshot mais recente do repositório: 549 FIIs e 956 ações. O resultado público contém 20 de cada classe.</a:t>
            </a:r>
          </a:p>
          <a:p>
            <a:endParaRPr/>
          </a:p>
          <a:p>
            <a:r>
              <a:t>[Sources]</a:t>
            </a:r>
          </a:p>
          <a:p>
            <a:r>
              <a:t>- docs/data/2026-09-02.json — kpis.total_fiis_universo, kpis.total_acoes_universo e rankings fiis/acoes.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o fluxo sem entrar em bibliotecas ou nomes de arquivos. O benefício é repetibilidade: o mesmo processo é aplicado a todo o universo.</a:t>
            </a:r>
          </a:p>
          <a:p>
            <a:endParaRPr/>
          </a:p>
          <a:p>
            <a:r>
              <a:t>[Sources]</a:t>
            </a:r>
          </a:p>
          <a:p>
            <a:r>
              <a:t>- main.py — sequência de coleta, limpeza, score, seleção, persistência, modelos, exportação e qualidade.</a:t>
            </a:r>
          </a:p>
          <a:p>
            <a:r>
              <a:t>- README.md — pipeline semanal e automação via GitHub Actions.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score é percentílico: compara cada ativo ao restante do universo do dia. Dados ausentes recebem uma nota neutra. Os critérios mínimos definem elegibilidade; a ordenação final usa os sete indicadores com peso igual.</a:t>
            </a:r>
          </a:p>
          <a:p>
            <a:endParaRPr/>
          </a:p>
          <a:p>
            <a:r>
              <a:t>[Sources]</a:t>
            </a:r>
          </a:p>
          <a:p>
            <a:r>
              <a:t>- src/scorer.py — FII_WEIGHTS, ACOES_WEIGHTS e cálculo percentílico 0–100.</a:t>
            </a:r>
          </a:p>
          <a:p>
            <a:r>
              <a:t>- src/filters.py — filtros mínimos de elegibilidade antes da ordenação.</a:t>
            </a:r>
          </a:p>
          <a:p>
            <a:r>
              <a:t>- config.yaml — valores dos pisos de elegibilidade.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que o dashboard é o ponto de contato com o público: ranking, indicadores, recorrência, carteira híbrida, backtests e modelos ficam no mesmo ambiente.</a:t>
            </a:r>
          </a:p>
          <a:p>
            <a:endParaRPr/>
          </a:p>
          <a:p>
            <a:r>
              <a:t>[Sources]</a:t>
            </a:r>
          </a:p>
          <a:p>
            <a:r>
              <a:t>- docs/index.html — interface e seções do dashboard.</a:t>
            </a:r>
          </a:p>
          <a:p>
            <a:r>
              <a:t>- .presentation_build/assets/site-home.png — captura local do dashboard em 02/09/2026.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que a carteira reúne quatro funções complementares. O exemplo de R$ 10 mil é apenas didático; dentro dos dois Top 20, cada ativo recebe o mesmo peso.</a:t>
            </a:r>
          </a:p>
          <a:p>
            <a:endParaRPr/>
          </a:p>
          <a:p>
            <a:r>
              <a:t>[Sources]</a:t>
            </a:r>
          </a:p>
          <a:p>
            <a:r>
              <a:t>- src/exporter.py — HYBRID_PORTFOLIO_WEIGHTS e regras de rebalanceamento.</a:t>
            </a:r>
          </a:p>
          <a:p>
            <a:r>
              <a:t>- docs/index.html — descrição da Carteira Híbrida Equilibrada.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é o exemplo histórico disponível no snapshot mais recente do projeto. Destaque que CDI e IVVB11 contribuíram positivamente, mas não eliminaram a perda dos blocos de renda variável.</a:t>
            </a:r>
          </a:p>
          <a:p>
            <a:endParaRPr/>
          </a:p>
          <a:p>
            <a:r>
              <a:t>[Sources]</a:t>
            </a:r>
          </a:p>
          <a:p>
            <a:r>
              <a:t>- docs/data/2026-09-02.json — carteira_vs.carteira_hibrida, período, retornos e contribuições.</a:t>
            </a:r>
          </a:p>
          <a:p>
            <a:r>
              <a:t>- src/exporter.py — metodologia da carteira híbrida.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diferencial aqui não é prometer acerto: é tornar o processo verificável. A base incremental protege o histórico; o backtest explicita premissas; o ML permanece experimental; e a automação só publica após testes e healthcheck.</a:t>
            </a:r>
          </a:p>
          <a:p>
            <a:endParaRPr/>
          </a:p>
          <a:p>
            <a:r>
              <a:t>[Sources]</a:t>
            </a:r>
          </a:p>
          <a:p>
            <a:r>
              <a:t>- docs/ARCHITECTURE.md — camadas e data lake incremental.</a:t>
            </a:r>
          </a:p>
          <a:p>
            <a:r>
              <a:t>- docs/BACKTEST_RETROATIVO.md — metodologia, cobertura e separação entre observado e simulado point-in-time.</a:t>
            </a:r>
          </a:p>
          <a:p>
            <a:r>
              <a:t>- docs/ML_PIPELINE.md — ML em modo sombra.</a:t>
            </a:r>
          </a:p>
          <a:p>
            <a:r>
              <a:t>- .github/workflows/run_screener.yml e tests/*.py — testes e healthcheck antes da publicação.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Feche com uma orientação prática: descobrir, comparar e aprofundar. Reforce o caráter educacional e convide a audiência a explorar o painel.</a:t>
            </a:r>
          </a:p>
          <a:p>
            <a:endParaRPr/>
          </a:p>
          <a:p>
            <a:r>
              <a:t>[Sources]</a:t>
            </a:r>
          </a:p>
          <a:p>
            <a:r>
              <a:t>- README.md — finalidade educacional e URL pública do dashboard.</a:t>
            </a:r>
          </a:p>
          <a:p>
            <a:r>
              <a:t>- docs/assets/italo-profile.png — foto do criador.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este slide como referência de marca. Para peças públicas, mantenha uma ideia principal, fundo escuro, alto contraste e as cores semânticas do produto.</a:t>
            </a:r>
          </a:p>
          <a:p>
            <a:endParaRPr/>
          </a:p>
          <a:p>
            <a:r>
              <a:t>[Sources]</a:t>
            </a:r>
          </a:p>
          <a:p>
            <a:r>
              <a:t>- docs/index.html — variáveis CSS, Proxima Nova, raio de 24 px e semântica de cores.</a:t>
            </a:r>
          </a:p>
          <a:p>
            <a:r>
              <a:t>- Inspeção visual do dashboard local renderizado em 02/09/2026.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talostatonato.github.io/stock-screener-automation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lipse 12">
            <a:extLst>
              <a:ext uri="{FF2B5EF4-FFF2-40B4-BE49-F238E27FC236}">
                <a16:creationId xmlns:a16="http://schemas.microsoft.com/office/drawing/2014/main" id="{D274418E-B8E0-4452-9EFA-4E4269CC67DA}"/>
              </a:ext>
            </a:extLst>
          </p:cNvPr>
          <p:cNvSpPr>
            <a:spLocks noGrp="1"/>
          </p:cNvSpPr>
          <p:nvPr/>
        </p:nvSpPr>
        <p:spPr>
          <a:xfrm>
            <a:off x="10096500" y="0"/>
            <a:ext cx="2095500" cy="2095500"/>
          </a:xfrm>
          <a:prstGeom prst="ellipse">
            <a:avLst/>
          </a:prstGeom>
          <a:solidFill>
            <a:srgbClr val="10182B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FF1F537-AC88-4F1E-8D42-502D0CDF1669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323850" cy="28575"/>
          </a:xfrm>
          <a:prstGeom prst="rect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BE97087-D8BB-444D-AB0E-5D90E5E09755}"/>
              </a:ext>
            </a:extLst>
          </p:cNvPr>
          <p:cNvSpPr>
            <a:spLocks noGrp="1"/>
          </p:cNvSpPr>
          <p:nvPr/>
        </p:nvSpPr>
        <p:spPr>
          <a:xfrm>
            <a:off x="1143000" y="5524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BOLETIM QUANTITATIVO • BRASIL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C5993274-19C9-4A20-AF49-B8DC676490D2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5810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57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57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Radar Semanal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F25859B-F346-49A6-B5BA-C4EBE5AE4044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4762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21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21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Dados públicos transformados em uma leitura simples de ações e FIIs.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6DAD570-B231-4399-9C1C-DB7ABFA9DFF0}"/>
              </a:ext>
            </a:extLst>
          </p:cNvPr>
          <p:cNvSpPr>
            <a:spLocks noGrp="1"/>
          </p:cNvSpPr>
          <p:nvPr/>
        </p:nvSpPr>
        <p:spPr>
          <a:xfrm>
            <a:off x="6191250" y="1104900"/>
            <a:ext cx="5314950" cy="3752850"/>
          </a:xfrm>
          <a:prstGeom prst="roundRect">
            <a:avLst>
              <a:gd name="adj" fmla="val 6091"/>
            </a:avLst>
          </a:prstGeom>
          <a:solidFill>
            <a:srgbClr val="0B1020"/>
          </a:solidFill>
          <a:ln w="19050">
            <a:solidFill>
              <a:srgbClr val="263550"/>
            </a:solidFill>
            <a:prstDash val="solid"/>
          </a:ln>
        </p:spPr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81750" y="1592798"/>
            <a:ext cx="4933950" cy="2777053"/>
          </a:xfrm>
          <a:prstGeom prst="roundRect">
            <a:avLst>
              <a:gd name="adj" fmla="val 5085"/>
            </a:avLst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4706D8DE-62D9-42F7-A491-C0344492273E}"/>
              </a:ext>
            </a:extLst>
          </p:cNvPr>
          <p:cNvSpPr>
            <a:spLocks noGrp="1"/>
          </p:cNvSpPr>
          <p:nvPr/>
        </p:nvSpPr>
        <p:spPr>
          <a:xfrm>
            <a:off x="685800" y="5448300"/>
            <a:ext cx="10820400" cy="9525"/>
          </a:xfrm>
          <a:prstGeom prst="rect">
            <a:avLst/>
          </a:prstGeom>
          <a:solidFill>
            <a:srgbClr val="263550"/>
          </a:solidFill>
          <a:ln w="0">
            <a:noFill/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ABD3DAE-CFC2-4454-B439-C2587E5856F3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Ítalo Petricioni Statonato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AD85751-B193-4AE6-9906-5314BFE54810}"/>
              </a:ext>
            </a:extLst>
          </p:cNvPr>
          <p:cNvSpPr>
            <a:spLocks noGrp="1"/>
          </p:cNvSpPr>
          <p:nvPr/>
        </p:nvSpPr>
        <p:spPr>
          <a:xfrm>
            <a:off x="685800" y="60579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Projeto educacional e analítico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FD1F19B-83BA-4E87-8459-930E0E7760AC}"/>
              </a:ext>
            </a:extLst>
          </p:cNvPr>
          <p:cNvSpPr>
            <a:spLocks noGrp="1"/>
          </p:cNvSpPr>
          <p:nvPr/>
        </p:nvSpPr>
        <p:spPr>
          <a:xfrm>
            <a:off x="9144000" y="5734050"/>
            <a:ext cx="2362200" cy="438150"/>
          </a:xfrm>
          <a:prstGeom prst="roundRect">
            <a:avLst>
              <a:gd name="adj" fmla="val 50000"/>
            </a:avLst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6375860-0AD0-4C3C-9129-54DD4D87F823}"/>
              </a:ext>
            </a:extLst>
          </p:cNvPr>
          <p:cNvSpPr>
            <a:spLocks noGrp="1"/>
          </p:cNvSpPr>
          <p:nvPr/>
        </p:nvSpPr>
        <p:spPr>
          <a:xfrm>
            <a:off x="9144000" y="5734050"/>
            <a:ext cx="2362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Ações + FIIs brasileiros</a:t>
            </a:r>
          </a:p>
        </p:txBody>
      </p:sp>
    </p:spTree>
    <p:extLst>
      <p:ext uri="{BB962C8B-B14F-4D97-AF65-F5344CB8AC3E}">
        <p14:creationId xmlns:p14="http://schemas.microsoft.com/office/powerpoint/2010/main" val="151757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25A88841-74D1-4876-914A-0EACF8713E8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66700" cy="19050"/>
          </a:xfrm>
          <a:prstGeom prst="rect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FCADE4C-1020-4B23-933F-3080775A5969}"/>
              </a:ext>
            </a:extLst>
          </p:cNvPr>
          <p:cNvSpPr>
            <a:spLocks noGrp="1"/>
          </p:cNvSpPr>
          <p:nvPr/>
        </p:nvSpPr>
        <p:spPr>
          <a:xfrm>
            <a:off x="1066800" y="2571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POR QUE EXISTE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9C39AE0-2BC9-46C0-A328-2FEF6429FEB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2276"/>
          </a:bodyPr>
          <a:lstStyle/>
          <a:p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O Radar transforma 1.505 ativos em uma lista curta para estudar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AA9E8AA-F255-4CD6-BA67-25FF09100154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Menos tempo procurando. Mais clareza para comparar.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B1D5909-4AB0-4355-86B6-95970F70FCC8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B39136C-3B42-4C6E-915F-6AB380276531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190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797"/>
          </a:bodyPr>
          <a:lstStyle/>
          <a:p>
            <a:pPr algn="l">
              <a:lnSpc>
                <a:spcPct val="105000"/>
              </a:lnSpc>
              <a:buNone/>
              <a:defRPr sz="540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defRPr>
            </a:pPr>
            <a:r>
              <a:rPr sz="540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rPr>
              <a:t>549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E763037-73B2-40EC-AB36-B8A4976AA56B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7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FIIs no universo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6B9B38F-8DF7-49E2-BB4E-4098FDDE680B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2476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fundos imobiliários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DB3B9CC-C937-4DA0-AA53-7DA13884382A}"/>
              </a:ext>
            </a:extLst>
          </p:cNvPr>
          <p:cNvSpPr>
            <a:spLocks noGrp="1"/>
          </p:cNvSpPr>
          <p:nvPr/>
        </p:nvSpPr>
        <p:spPr>
          <a:xfrm>
            <a:off x="3009900" y="2571750"/>
            <a:ext cx="495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33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33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+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E6561FE-192F-4DB1-BE51-A736F687C25D}"/>
              </a:ext>
            </a:extLst>
          </p:cNvPr>
          <p:cNvSpPr>
            <a:spLocks noGrp="1"/>
          </p:cNvSpPr>
          <p:nvPr/>
        </p:nvSpPr>
        <p:spPr>
          <a:xfrm>
            <a:off x="3886200" y="2266950"/>
            <a:ext cx="2190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797"/>
          </a:bodyPr>
          <a:lstStyle/>
          <a:p>
            <a:pPr algn="l">
              <a:lnSpc>
                <a:spcPct val="105000"/>
              </a:lnSpc>
              <a:buNone/>
              <a:defRPr sz="540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defRPr>
            </a:pPr>
            <a:r>
              <a:rPr sz="540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rPr>
              <a:t>956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1A4A75F-B67A-43BE-9AA4-E4C35692BE2D}"/>
              </a:ext>
            </a:extLst>
          </p:cNvPr>
          <p:cNvSpPr>
            <a:spLocks noGrp="1"/>
          </p:cNvSpPr>
          <p:nvPr/>
        </p:nvSpPr>
        <p:spPr>
          <a:xfrm>
            <a:off x="3886200" y="31051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7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ações no universo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31E5D8F-A177-438C-985F-CAF11E0635EC}"/>
              </a:ext>
            </a:extLst>
          </p:cNvPr>
          <p:cNvSpPr>
            <a:spLocks noGrp="1"/>
          </p:cNvSpPr>
          <p:nvPr/>
        </p:nvSpPr>
        <p:spPr>
          <a:xfrm>
            <a:off x="3886200" y="3476625"/>
            <a:ext cx="266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empresas brasileiras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8C0D147-6149-4CFF-9F29-E5C12DA3FEF4}"/>
              </a:ext>
            </a:extLst>
          </p:cNvPr>
          <p:cNvSpPr>
            <a:spLocks noGrp="1"/>
          </p:cNvSpPr>
          <p:nvPr/>
        </p:nvSpPr>
        <p:spPr>
          <a:xfrm>
            <a:off x="6705600" y="25717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36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36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→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B613429-E45D-44A3-9E37-682D467FB40E}"/>
              </a:ext>
            </a:extLst>
          </p:cNvPr>
          <p:cNvSpPr>
            <a:spLocks noGrp="1"/>
          </p:cNvSpPr>
          <p:nvPr/>
        </p:nvSpPr>
        <p:spPr>
          <a:xfrm>
            <a:off x="7848600" y="2076450"/>
            <a:ext cx="3657600" cy="2133600"/>
          </a:xfrm>
          <a:prstGeom prst="roundRect">
            <a:avLst>
              <a:gd name="adj" fmla="val 10714"/>
            </a:avLst>
          </a:prstGeom>
          <a:solidFill>
            <a:srgbClr val="111A2D"/>
          </a:solidFill>
          <a:ln w="19050">
            <a:solidFill>
              <a:srgbClr val="263550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3A54CA8-C63C-42AC-A8F8-068167387845}"/>
              </a:ext>
            </a:extLst>
          </p:cNvPr>
          <p:cNvSpPr>
            <a:spLocks noGrp="1"/>
          </p:cNvSpPr>
          <p:nvPr/>
        </p:nvSpPr>
        <p:spPr>
          <a:xfrm>
            <a:off x="8191500" y="2343150"/>
            <a:ext cx="1428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947"/>
          </a:bodyPr>
          <a:lstStyle/>
          <a:p>
            <a:pPr algn="l">
              <a:lnSpc>
                <a:spcPct val="105000"/>
              </a:lnSpc>
              <a:buNone/>
              <a:defRPr sz="61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61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40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E519AB3-CD0E-4892-95FE-524230137EDC}"/>
              </a:ext>
            </a:extLst>
          </p:cNvPr>
          <p:cNvSpPr>
            <a:spLocks noGrp="1"/>
          </p:cNvSpPr>
          <p:nvPr/>
        </p:nvSpPr>
        <p:spPr>
          <a:xfrm>
            <a:off x="9658350" y="2533650"/>
            <a:ext cx="152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ativos em destaque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25D4348-0769-4626-97A0-70DE0E3DB455}"/>
              </a:ext>
            </a:extLst>
          </p:cNvPr>
          <p:cNvSpPr>
            <a:spLocks noGrp="1"/>
          </p:cNvSpPr>
          <p:nvPr/>
        </p:nvSpPr>
        <p:spPr>
          <a:xfrm>
            <a:off x="8191500" y="3371850"/>
            <a:ext cx="2971800" cy="9525"/>
          </a:xfrm>
          <a:prstGeom prst="rect">
            <a:avLst/>
          </a:prstGeom>
          <a:solidFill>
            <a:srgbClr val="263550"/>
          </a:solidFill>
          <a:ln w="0">
            <a:noFill/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BAB6516-821A-438C-8ED9-326902E126BD}"/>
              </a:ext>
            </a:extLst>
          </p:cNvPr>
          <p:cNvSpPr>
            <a:spLocks noGrp="1"/>
          </p:cNvSpPr>
          <p:nvPr/>
        </p:nvSpPr>
        <p:spPr>
          <a:xfrm>
            <a:off x="8191500" y="3562350"/>
            <a:ext cx="1285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rPr>
              <a:t>20 FIIs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F3AF3F0-6883-430C-8E05-449657EB2509}"/>
              </a:ext>
            </a:extLst>
          </p:cNvPr>
          <p:cNvSpPr>
            <a:spLocks noGrp="1"/>
          </p:cNvSpPr>
          <p:nvPr/>
        </p:nvSpPr>
        <p:spPr>
          <a:xfrm>
            <a:off x="9553575" y="3562350"/>
            <a:ext cx="32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1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+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8B1BFC9-E060-4AE1-A854-326C731A2DC7}"/>
              </a:ext>
            </a:extLst>
          </p:cNvPr>
          <p:cNvSpPr>
            <a:spLocks noGrp="1"/>
          </p:cNvSpPr>
          <p:nvPr/>
        </p:nvSpPr>
        <p:spPr>
          <a:xfrm>
            <a:off x="9953625" y="356235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rPr>
              <a:t>20 ações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D9EBF0F-EA99-4EB4-9AE1-B04015CE50AE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10820400" cy="9525"/>
          </a:xfrm>
          <a:prstGeom prst="rect">
            <a:avLst/>
          </a:prstGeom>
          <a:solidFill>
            <a:srgbClr val="263550"/>
          </a:solidFill>
          <a:ln w="0">
            <a:noFill/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669F8FC-6DCA-4BDD-A238-FD4E2CBAE422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971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O ranking não elimina a análise: ele organiza a fila do que merece atenção primeiro.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B30CFF5-F6BA-4A10-B56C-67A769178B55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Universo e rankings do snapshot de 02/09/2026.</a:t>
            </a:r>
          </a:p>
        </p:txBody>
      </p:sp>
    </p:spTree>
    <p:extLst>
      <p:ext uri="{BB962C8B-B14F-4D97-AF65-F5344CB8AC3E}">
        <p14:creationId xmlns:p14="http://schemas.microsoft.com/office/powerpoint/2010/main" val="592121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762E2EC3-9A27-4F07-BC2B-C2B011821A4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66700" cy="19050"/>
          </a:xfrm>
          <a:prstGeom prst="rect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0E3A514-EF12-4B01-A455-C48ED58FB521}"/>
              </a:ext>
            </a:extLst>
          </p:cNvPr>
          <p:cNvSpPr>
            <a:spLocks noGrp="1"/>
          </p:cNvSpPr>
          <p:nvPr/>
        </p:nvSpPr>
        <p:spPr>
          <a:xfrm>
            <a:off x="1066800" y="2571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COMO FUNCIONA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0B5108-FC13-4110-BE95-2CE0D03E977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O processo cabe em quatro passos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B75387-2A48-4FF5-A500-0DD641FA97A4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Uma rotina simples de explicar — e automática de repetir.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4A15225-E2D4-4D61-A80D-B8239280DFB5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BAD683F-9DBA-456A-A89E-44DDAC5B436E}"/>
              </a:ext>
            </a:extLst>
          </p:cNvPr>
          <p:cNvSpPr>
            <a:spLocks noGrp="1"/>
          </p:cNvSpPr>
          <p:nvPr/>
        </p:nvSpPr>
        <p:spPr>
          <a:xfrm>
            <a:off x="933450" y="2333625"/>
            <a:ext cx="9620250" cy="19050"/>
          </a:xfrm>
          <a:prstGeom prst="rect">
            <a:avLst/>
          </a:prstGeom>
          <a:solidFill>
            <a:srgbClr val="263550"/>
          </a:solidFill>
          <a:ln w="0">
            <a:noFill/>
            <a:prstDash val="solid"/>
          </a:ln>
        </p:spPr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6496304-EE3E-41FD-BD13-E976A0980780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514350" cy="514350"/>
          </a:xfrm>
          <a:prstGeom prst="ellipse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B742518-8048-45AF-9C4C-44D1CAA27CCD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FE65257-F96C-40CF-9735-2688E7F1C3B3}"/>
              </a:ext>
            </a:extLst>
          </p:cNvPr>
          <p:cNvSpPr>
            <a:spLocks noGrp="1"/>
          </p:cNvSpPr>
          <p:nvPr/>
        </p:nvSpPr>
        <p:spPr>
          <a:xfrm>
            <a:off x="914400" y="28003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Coletar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1CD225B-7A2B-4E98-A9B8-498FADF3DD87}"/>
              </a:ext>
            </a:extLst>
          </p:cNvPr>
          <p:cNvSpPr>
            <a:spLocks noGrp="1"/>
          </p:cNvSpPr>
          <p:nvPr/>
        </p:nvSpPr>
        <p:spPr>
          <a:xfrm>
            <a:off x="914400" y="3200400"/>
            <a:ext cx="2143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Dados públicos de FIIs, ações e mercado.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F1DF799-F0DD-497A-BCF5-30E3C1AA8D6B}"/>
              </a:ext>
            </a:extLst>
          </p:cNvPr>
          <p:cNvSpPr>
            <a:spLocks noGrp="1"/>
          </p:cNvSpPr>
          <p:nvPr/>
        </p:nvSpPr>
        <p:spPr>
          <a:xfrm>
            <a:off x="3162300" y="215265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→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A62549C-F7A4-4C96-914B-18E0D4032A05}"/>
              </a:ext>
            </a:extLst>
          </p:cNvPr>
          <p:cNvSpPr>
            <a:spLocks noGrp="1"/>
          </p:cNvSpPr>
          <p:nvPr/>
        </p:nvSpPr>
        <p:spPr>
          <a:xfrm>
            <a:off x="3905250" y="2076450"/>
            <a:ext cx="514350" cy="514350"/>
          </a:xfrm>
          <a:prstGeom prst="ellipse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536A735-CCDD-49B0-A0E2-BBBD032CA612}"/>
              </a:ext>
            </a:extLst>
          </p:cNvPr>
          <p:cNvSpPr>
            <a:spLocks noGrp="1"/>
          </p:cNvSpPr>
          <p:nvPr/>
        </p:nvSpPr>
        <p:spPr>
          <a:xfrm>
            <a:off x="3905250" y="20764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FF4FFEC-5C88-4BC1-B69B-2FB3586A3B4C}"/>
              </a:ext>
            </a:extLst>
          </p:cNvPr>
          <p:cNvSpPr>
            <a:spLocks noGrp="1"/>
          </p:cNvSpPr>
          <p:nvPr/>
        </p:nvSpPr>
        <p:spPr>
          <a:xfrm>
            <a:off x="3905250" y="28003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Padronizar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4F0E2C1-4EAA-4C31-8C9D-FA933E48E910}"/>
              </a:ext>
            </a:extLst>
          </p:cNvPr>
          <p:cNvSpPr>
            <a:spLocks noGrp="1"/>
          </p:cNvSpPr>
          <p:nvPr/>
        </p:nvSpPr>
        <p:spPr>
          <a:xfrm>
            <a:off x="3905250" y="3200400"/>
            <a:ext cx="2238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05"/>
          </a:bodyPr>
          <a:lstStyle/>
          <a:p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Percentuais, preços e indicadores ficam comparáveis.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E49F82B-9194-4225-A0B2-3EC6357C1045}"/>
              </a:ext>
            </a:extLst>
          </p:cNvPr>
          <p:cNvSpPr>
            <a:spLocks noGrp="1"/>
          </p:cNvSpPr>
          <p:nvPr/>
        </p:nvSpPr>
        <p:spPr>
          <a:xfrm>
            <a:off x="6172200" y="215265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→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B1AF473-EC36-4E90-BB06-435EF7A4626C}"/>
              </a:ext>
            </a:extLst>
          </p:cNvPr>
          <p:cNvSpPr>
            <a:spLocks noGrp="1"/>
          </p:cNvSpPr>
          <p:nvPr/>
        </p:nvSpPr>
        <p:spPr>
          <a:xfrm>
            <a:off x="6915150" y="2076450"/>
            <a:ext cx="514350" cy="514350"/>
          </a:xfrm>
          <a:prstGeom prst="ellipse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0C419CB-4AF9-46F8-832A-D5D36A6E632A}"/>
              </a:ext>
            </a:extLst>
          </p:cNvPr>
          <p:cNvSpPr>
            <a:spLocks noGrp="1"/>
          </p:cNvSpPr>
          <p:nvPr/>
        </p:nvSpPr>
        <p:spPr>
          <a:xfrm>
            <a:off x="6915150" y="20764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3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3FEE1C4-0939-4613-A6A2-BC99C07071F6}"/>
              </a:ext>
            </a:extLst>
          </p:cNvPr>
          <p:cNvSpPr>
            <a:spLocks noGrp="1"/>
          </p:cNvSpPr>
          <p:nvPr/>
        </p:nvSpPr>
        <p:spPr>
          <a:xfrm>
            <a:off x="6915150" y="28003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Pontuar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46B79F4-3620-4439-9E30-139245ED9B8A}"/>
              </a:ext>
            </a:extLst>
          </p:cNvPr>
          <p:cNvSpPr>
            <a:spLocks noGrp="1"/>
          </p:cNvSpPr>
          <p:nvPr/>
        </p:nvSpPr>
        <p:spPr>
          <a:xfrm>
            <a:off x="6915150" y="3200400"/>
            <a:ext cx="2143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Cada ativo recebe uma nota entre 0 e 100.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4CC822D-9DC7-4E36-838A-7CEC1F554397}"/>
              </a:ext>
            </a:extLst>
          </p:cNvPr>
          <p:cNvSpPr>
            <a:spLocks noGrp="1"/>
          </p:cNvSpPr>
          <p:nvPr/>
        </p:nvSpPr>
        <p:spPr>
          <a:xfrm>
            <a:off x="9124950" y="215265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→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BD29BB03-238D-4505-B4A2-6D3926F01154}"/>
              </a:ext>
            </a:extLst>
          </p:cNvPr>
          <p:cNvSpPr>
            <a:spLocks noGrp="1"/>
          </p:cNvSpPr>
          <p:nvPr/>
        </p:nvSpPr>
        <p:spPr>
          <a:xfrm>
            <a:off x="9867900" y="2076450"/>
            <a:ext cx="514350" cy="514350"/>
          </a:xfrm>
          <a:prstGeom prst="ellipse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C94B2A6-EC6B-492F-8764-8A53AF44E2EE}"/>
              </a:ext>
            </a:extLst>
          </p:cNvPr>
          <p:cNvSpPr>
            <a:spLocks noGrp="1"/>
          </p:cNvSpPr>
          <p:nvPr/>
        </p:nvSpPr>
        <p:spPr>
          <a:xfrm>
            <a:off x="9867900" y="20764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4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7992E81-F577-41E2-99D2-63D59A1F84AE}"/>
              </a:ext>
            </a:extLst>
          </p:cNvPr>
          <p:cNvSpPr>
            <a:spLocks noGrp="1"/>
          </p:cNvSpPr>
          <p:nvPr/>
        </p:nvSpPr>
        <p:spPr>
          <a:xfrm>
            <a:off x="9867900" y="28003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Publicar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C7E60F3-3A57-455C-BE0A-4218CDF5A661}"/>
              </a:ext>
            </a:extLst>
          </p:cNvPr>
          <p:cNvSpPr>
            <a:spLocks noGrp="1"/>
          </p:cNvSpPr>
          <p:nvPr/>
        </p:nvSpPr>
        <p:spPr>
          <a:xfrm>
            <a:off x="9867900" y="3200400"/>
            <a:ext cx="171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05"/>
          </a:bodyPr>
          <a:lstStyle/>
          <a:p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Ranking, histórico e contexto chegam ao painel.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5859037B-8F56-4D46-A653-1C1655A692A6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10820400" cy="1066800"/>
          </a:xfrm>
          <a:prstGeom prst="roundRect">
            <a:avLst>
              <a:gd name="adj" fmla="val 17857"/>
            </a:avLst>
          </a:prstGeom>
          <a:solidFill>
            <a:srgbClr val="10182B"/>
          </a:solidFill>
          <a:ln w="9525">
            <a:solidFill>
              <a:srgbClr val="263550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70AFC6A-9CB5-4C16-BA2A-639D469840D0}"/>
              </a:ext>
            </a:extLst>
          </p:cNvPr>
          <p:cNvSpPr>
            <a:spLocks noGrp="1"/>
          </p:cNvSpPr>
          <p:nvPr/>
        </p:nvSpPr>
        <p:spPr>
          <a:xfrm>
            <a:off x="1047750" y="51244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941"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Toda semana, o mesmo método percorre o universo inteiro — sem escolher manualmente os favoritos.</a:t>
            </a:r>
          </a:p>
        </p:txBody>
      </p:sp>
    </p:spTree>
    <p:extLst>
      <p:ext uri="{BB962C8B-B14F-4D97-AF65-F5344CB8AC3E}">
        <p14:creationId xmlns:p14="http://schemas.microsoft.com/office/powerpoint/2010/main" val="1613415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ângulo 40">
            <a:extLst>
              <a:ext uri="{FF2B5EF4-FFF2-40B4-BE49-F238E27FC236}">
                <a16:creationId xmlns:a16="http://schemas.microsoft.com/office/drawing/2014/main" id="{A80AC2E1-D756-4D89-A977-414D13ECEA4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66700" cy="19050"/>
          </a:xfrm>
          <a:prstGeom prst="rect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767B983-ABFC-4A59-ADCC-4EAB1C1D0041}"/>
              </a:ext>
            </a:extLst>
          </p:cNvPr>
          <p:cNvSpPr>
            <a:spLocks noGrp="1"/>
          </p:cNvSpPr>
          <p:nvPr/>
        </p:nvSpPr>
        <p:spPr>
          <a:xfrm>
            <a:off x="1066800" y="2571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A NOTA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704636E-4BD8-4241-A30F-587A3F5C26C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Cada ativo é comparado com seus pares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95EF0BD-5583-4EB4-90BD-0173381E7EF7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Sete critérios, mesmo peso: cada um responde por 1/7 do score.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DB4ED17-84F3-4BFB-AB12-C19FEA1F4635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048BDE8-CCA9-4AD8-B749-31CAEF49F2DC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defRPr>
            </a:pPr>
            <a:r>
              <a:rPr sz="255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rPr>
              <a:t>FIIs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3059A7B-333A-4718-884D-9EFE0C449A40}"/>
              </a:ext>
            </a:extLst>
          </p:cNvPr>
          <p:cNvSpPr>
            <a:spLocks noGrp="1"/>
          </p:cNvSpPr>
          <p:nvPr/>
        </p:nvSpPr>
        <p:spPr>
          <a:xfrm>
            <a:off x="7600950" y="19621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defRPr>
            </a:pPr>
            <a:r>
              <a:rPr sz="255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rPr>
              <a:t>Ações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641CBBA-C28F-4BC7-B629-754070CB0A65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85725" cy="85725"/>
          </a:xfrm>
          <a:prstGeom prst="ellipse">
            <a:avLst/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21A27BF-8160-4EB6-9762-5DBE0EC7AA96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3790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Renda: DY médio em 12 meses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925A6E0-84F1-4A78-A4C0-F3438CA3A53A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85725" cy="85725"/>
          </a:xfrm>
          <a:prstGeom prst="ellipse">
            <a:avLst/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B28C518-8070-4CC4-8731-190B49E83F67}"/>
              </a:ext>
            </a:extLst>
          </p:cNvPr>
          <p:cNvSpPr>
            <a:spLocks noGrp="1"/>
          </p:cNvSpPr>
          <p:nvPr/>
        </p:nvSpPr>
        <p:spPr>
          <a:xfrm>
            <a:off x="895350" y="2971800"/>
            <a:ext cx="3790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Preço: P/VP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96EE7C6-FF2E-46BA-B81C-A433FBA6976E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85725" cy="85725"/>
          </a:xfrm>
          <a:prstGeom prst="ellipse">
            <a:avLst/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864B238-F226-4F9A-8F02-E120109DA3CA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3790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Liquidez diária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615106A-F7E5-43F8-9F5D-2EA6BC1252A7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85725" cy="85725"/>
          </a:xfrm>
          <a:prstGeom prst="ellipse">
            <a:avLst/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1F19C6C-3E4F-411F-BE86-BFED25A9ACCC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3790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Tamanho: patrimônio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4C7940F-D60C-4F5E-A6D3-AA990FCBEEBD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85725" cy="85725"/>
          </a:xfrm>
          <a:prstGeom prst="ellipse">
            <a:avLst/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924694C-96C6-4128-9E34-605193C53A9C}"/>
              </a:ext>
            </a:extLst>
          </p:cNvPr>
          <p:cNvSpPr>
            <a:spLocks noGrp="1"/>
          </p:cNvSpPr>
          <p:nvPr/>
        </p:nvSpPr>
        <p:spPr>
          <a:xfrm>
            <a:off x="895350" y="4171950"/>
            <a:ext cx="3790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Desempenho no período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8FC7C67-C6DE-41E7-ABF4-2C74EFF3C7CB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85725" cy="85725"/>
          </a:xfrm>
          <a:prstGeom prst="ellipse">
            <a:avLst/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5FB15DF-187E-4933-8F93-AE9DC7B62539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3790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Taxa de administração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831B9A9-9108-4D55-9C5C-90D0EE7E9F85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85725" cy="85725"/>
          </a:xfrm>
          <a:prstGeom prst="ellipse">
            <a:avLst/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885C26C-AD0B-4A38-A0F3-185223AC5518}"/>
              </a:ext>
            </a:extLst>
          </p:cNvPr>
          <p:cNvSpPr>
            <a:spLocks noGrp="1"/>
          </p:cNvSpPr>
          <p:nvPr/>
        </p:nvSpPr>
        <p:spPr>
          <a:xfrm>
            <a:off x="895350" y="4972050"/>
            <a:ext cx="3790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Taxa de performance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011CA5C7-AF49-404D-BF81-E7EF4027972D}"/>
              </a:ext>
            </a:extLst>
          </p:cNvPr>
          <p:cNvSpPr>
            <a:spLocks noGrp="1"/>
          </p:cNvSpPr>
          <p:nvPr/>
        </p:nvSpPr>
        <p:spPr>
          <a:xfrm>
            <a:off x="7600950" y="2647950"/>
            <a:ext cx="85725" cy="85725"/>
          </a:xfrm>
          <a:prstGeom prst="ellipse">
            <a:avLst/>
          </a:prstGeom>
          <a:solidFill>
            <a:srgbClr val="54C7FF"/>
          </a:solidFill>
          <a:ln w="0">
            <a:noFill/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F1CF66A-6102-47CE-9E52-52AE40DE88A9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Renda: dividend yield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EEB7C13-055F-4F63-BC79-FFEFABCF7805}"/>
              </a:ext>
            </a:extLst>
          </p:cNvPr>
          <p:cNvSpPr>
            <a:spLocks noGrp="1"/>
          </p:cNvSpPr>
          <p:nvPr/>
        </p:nvSpPr>
        <p:spPr>
          <a:xfrm>
            <a:off x="7600950" y="3048000"/>
            <a:ext cx="85725" cy="85725"/>
          </a:xfrm>
          <a:prstGeom prst="ellipse">
            <a:avLst/>
          </a:prstGeom>
          <a:solidFill>
            <a:srgbClr val="54C7FF"/>
          </a:solidFill>
          <a:ln w="0">
            <a:noFill/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D5F4BCF-B2CA-4B3E-87C3-0C03FECA2AB4}"/>
              </a:ext>
            </a:extLst>
          </p:cNvPr>
          <p:cNvSpPr>
            <a:spLocks noGrp="1"/>
          </p:cNvSpPr>
          <p:nvPr/>
        </p:nvSpPr>
        <p:spPr>
          <a:xfrm>
            <a:off x="7810500" y="2971800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Preço: P/VPA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5CD095B-8FF3-4252-8ABB-7477C23E3B12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85725" cy="85725"/>
          </a:xfrm>
          <a:prstGeom prst="ellipse">
            <a:avLst/>
          </a:prstGeom>
          <a:solidFill>
            <a:srgbClr val="54C7FF"/>
          </a:solidFill>
          <a:ln w="0">
            <a:noFill/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96F5FE7-5CA4-4D4F-947A-4CB7EB3C83B5}"/>
              </a:ext>
            </a:extLst>
          </p:cNvPr>
          <p:cNvSpPr>
            <a:spLocks noGrp="1"/>
          </p:cNvSpPr>
          <p:nvPr/>
        </p:nvSpPr>
        <p:spPr>
          <a:xfrm>
            <a:off x="7810500" y="3371850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Preço operacional: EV/EBITDA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6C6C7A0A-941C-4223-921E-A07EC0CD8901}"/>
              </a:ext>
            </a:extLst>
          </p:cNvPr>
          <p:cNvSpPr>
            <a:spLocks noGrp="1"/>
          </p:cNvSpPr>
          <p:nvPr/>
        </p:nvSpPr>
        <p:spPr>
          <a:xfrm>
            <a:off x="7600950" y="3848100"/>
            <a:ext cx="85725" cy="85725"/>
          </a:xfrm>
          <a:prstGeom prst="ellipse">
            <a:avLst/>
          </a:prstGeom>
          <a:solidFill>
            <a:srgbClr val="54C7FF"/>
          </a:solidFill>
          <a:ln w="0">
            <a:noFill/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43C4DB0-EF95-423E-8F73-54E2519F4B4E}"/>
              </a:ext>
            </a:extLst>
          </p:cNvPr>
          <p:cNvSpPr>
            <a:spLocks noGrp="1"/>
          </p:cNvSpPr>
          <p:nvPr/>
        </p:nvSpPr>
        <p:spPr>
          <a:xfrm>
            <a:off x="7810500" y="3771900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Margem líquida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9A7AD5AF-5119-4638-BDE5-9B63374F8F14}"/>
              </a:ext>
            </a:extLst>
          </p:cNvPr>
          <p:cNvSpPr>
            <a:spLocks noGrp="1"/>
          </p:cNvSpPr>
          <p:nvPr/>
        </p:nvSpPr>
        <p:spPr>
          <a:xfrm>
            <a:off x="7600950" y="4248150"/>
            <a:ext cx="85725" cy="85725"/>
          </a:xfrm>
          <a:prstGeom prst="ellipse">
            <a:avLst/>
          </a:prstGeom>
          <a:solidFill>
            <a:srgbClr val="54C7FF"/>
          </a:solidFill>
          <a:ln w="0">
            <a:noFill/>
            <a:prstDash val="solid"/>
          </a:ln>
        </p:spPr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9ABBC77-A942-42A7-B352-50C70CB4C8FD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Retorno sobre capital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B53ED6E4-D020-49E4-BF65-AAAA43266F10}"/>
              </a:ext>
            </a:extLst>
          </p:cNvPr>
          <p:cNvSpPr>
            <a:spLocks noGrp="1"/>
          </p:cNvSpPr>
          <p:nvPr/>
        </p:nvSpPr>
        <p:spPr>
          <a:xfrm>
            <a:off x="7600950" y="4648200"/>
            <a:ext cx="85725" cy="85725"/>
          </a:xfrm>
          <a:prstGeom prst="ellipse">
            <a:avLst/>
          </a:prstGeom>
          <a:solidFill>
            <a:srgbClr val="54C7FF"/>
          </a:solidFill>
          <a:ln w="0">
            <a:noFill/>
            <a:prstDash val="solid"/>
          </a:ln>
        </p:spPr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E7E0386-0F86-402F-BAF9-D0CC002142EB}"/>
              </a:ext>
            </a:extLst>
          </p:cNvPr>
          <p:cNvSpPr>
            <a:spLocks noGrp="1"/>
          </p:cNvSpPr>
          <p:nvPr/>
        </p:nvSpPr>
        <p:spPr>
          <a:xfrm>
            <a:off x="7810500" y="4572000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Retorno sobre patrimônio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73A9BC9C-9387-464E-B736-68896E85AB5E}"/>
              </a:ext>
            </a:extLst>
          </p:cNvPr>
          <p:cNvSpPr>
            <a:spLocks noGrp="1"/>
          </p:cNvSpPr>
          <p:nvPr/>
        </p:nvSpPr>
        <p:spPr>
          <a:xfrm>
            <a:off x="7600950" y="5048250"/>
            <a:ext cx="85725" cy="85725"/>
          </a:xfrm>
          <a:prstGeom prst="ellipse">
            <a:avLst/>
          </a:prstGeom>
          <a:solidFill>
            <a:srgbClr val="54C7FF"/>
          </a:solidFill>
          <a:ln w="0">
            <a:noFill/>
            <a:prstDash val="solid"/>
          </a:ln>
        </p:spPr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CAC6B3B-5953-475C-A5ED-4BCA36368354}"/>
              </a:ext>
            </a:extLst>
          </p:cNvPr>
          <p:cNvSpPr>
            <a:spLocks noGrp="1"/>
          </p:cNvSpPr>
          <p:nvPr/>
        </p:nvSpPr>
        <p:spPr>
          <a:xfrm>
            <a:off x="7810500" y="4972050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Liquidez de negociação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B94C668F-5C3C-4877-A6A3-9218CBFFF4F0}"/>
              </a:ext>
            </a:extLst>
          </p:cNvPr>
          <p:cNvSpPr>
            <a:spLocks noGrp="1"/>
          </p:cNvSpPr>
          <p:nvPr/>
        </p:nvSpPr>
        <p:spPr>
          <a:xfrm>
            <a:off x="4905375" y="2381250"/>
            <a:ext cx="2381250" cy="2381250"/>
          </a:xfrm>
          <a:prstGeom prst="ellipse">
            <a:avLst/>
          </a:prstGeom>
          <a:solidFill>
            <a:srgbClr val="111A2D"/>
          </a:solidFill>
          <a:ln w="19050">
            <a:solidFill>
              <a:srgbClr val="263550"/>
            </a:solidFill>
            <a:prstDash val="solid"/>
          </a:ln>
        </p:spPr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5D6BD21-68E8-4909-B33F-8168AB1D1059}"/>
              </a:ext>
            </a:extLst>
          </p:cNvPr>
          <p:cNvSpPr>
            <a:spLocks noGrp="1"/>
          </p:cNvSpPr>
          <p:nvPr/>
        </p:nvSpPr>
        <p:spPr>
          <a:xfrm>
            <a:off x="5095875" y="3000375"/>
            <a:ext cx="2000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4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4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0–100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DE7F4AB-E6DB-4951-9850-5E67324DB25A}"/>
              </a:ext>
            </a:extLst>
          </p:cNvPr>
          <p:cNvSpPr>
            <a:spLocks noGrp="1"/>
          </p:cNvSpPr>
          <p:nvPr/>
        </p:nvSpPr>
        <p:spPr>
          <a:xfrm>
            <a:off x="5219700" y="3819525"/>
            <a:ext cx="1752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1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posição relativa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C1423C85-453D-4CC9-918F-C6CE30EE9228}"/>
              </a:ext>
            </a:extLst>
          </p:cNvPr>
          <p:cNvSpPr>
            <a:spLocks noGrp="1"/>
          </p:cNvSpPr>
          <p:nvPr/>
        </p:nvSpPr>
        <p:spPr>
          <a:xfrm>
            <a:off x="4229100" y="5429250"/>
            <a:ext cx="3733800" cy="781050"/>
          </a:xfrm>
          <a:prstGeom prst="roundRect">
            <a:avLst>
              <a:gd name="adj" fmla="val 21951"/>
            </a:avLst>
          </a:prstGeom>
          <a:solidFill>
            <a:srgbClr val="10182B"/>
          </a:solidFill>
          <a:ln w="9525">
            <a:solidFill>
              <a:srgbClr val="263550"/>
            </a:solidFill>
            <a:prstDash val="solid"/>
          </a:ln>
        </p:spPr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9044003E-3670-4448-9B90-0094A99D4AC5}"/>
              </a:ext>
            </a:extLst>
          </p:cNvPr>
          <p:cNvSpPr>
            <a:spLocks noGrp="1"/>
          </p:cNvSpPr>
          <p:nvPr/>
        </p:nvSpPr>
        <p:spPr>
          <a:xfrm>
            <a:off x="4438650" y="5553075"/>
            <a:ext cx="3314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997"/>
          </a:bodyPr>
          <a:lstStyle/>
          <a:p>
            <a:pPr algn="ctr">
              <a:lnSpc>
                <a:spcPct val="110000"/>
              </a:lnSpc>
              <a:buNone/>
              <a:defRPr sz="13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3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Preço e taxas: menor tende a pontuar melhor.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3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Nos demais critérios: maior tende a pontuar melhor.</a:t>
            </a:r>
          </a:p>
        </p:txBody>
      </p:sp>
    </p:spTree>
    <p:extLst>
      <p:ext uri="{BB962C8B-B14F-4D97-AF65-F5344CB8AC3E}">
        <p14:creationId xmlns:p14="http://schemas.microsoft.com/office/powerpoint/2010/main" val="198504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21100EBE-8F36-4409-B399-D0B0A57CC5C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66700" cy="19050"/>
          </a:xfrm>
          <a:prstGeom prst="rect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DCC535C-64EE-4C69-B4D2-DC31103E6D1C}"/>
              </a:ext>
            </a:extLst>
          </p:cNvPr>
          <p:cNvSpPr>
            <a:spLocks noGrp="1"/>
          </p:cNvSpPr>
          <p:nvPr/>
        </p:nvSpPr>
        <p:spPr>
          <a:xfrm>
            <a:off x="1066800" y="2571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O PRODUTO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FB3908A-4269-406E-9F40-13EEFF0AE41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O painel transforma o ranking em contexto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73DA01A-145B-47FD-9ED6-08C70380B2B1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A pessoa pode explorar o resultado sem abrir planilhas ou código.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6057171-04EA-40FD-BFEE-B9327CFF092D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05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F07F8A4-70EA-430F-B726-5DECDC0C86DB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0820400" cy="3781425"/>
          </a:xfrm>
          <a:prstGeom prst="roundRect">
            <a:avLst>
              <a:gd name="adj" fmla="val 6045"/>
            </a:avLst>
          </a:prstGeom>
          <a:solidFill>
            <a:srgbClr val="0B1020"/>
          </a:solidFill>
          <a:ln w="19050">
            <a:solidFill>
              <a:srgbClr val="263550"/>
            </a:solidFill>
            <a:prstDash val="solid"/>
          </a:ln>
        </p:spPr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3"/>
          <a:srcRect t="20630" b="20630"/>
          <a:stretch>
            <a:fillRect/>
          </a:stretch>
        </p:blipFill>
        <p:spPr>
          <a:xfrm>
            <a:off x="838200" y="2076450"/>
            <a:ext cx="10515600" cy="3476625"/>
          </a:xfrm>
          <a:prstGeom prst="roundRect">
            <a:avLst>
              <a:gd name="adj" fmla="val 4932"/>
            </a:avLst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0F7A9C23-ABCA-4A71-B885-44AFAFA3923D}"/>
              </a:ext>
            </a:extLst>
          </p:cNvPr>
          <p:cNvSpPr>
            <a:spLocks noGrp="1"/>
          </p:cNvSpPr>
          <p:nvPr/>
        </p:nvSpPr>
        <p:spPr>
          <a:xfrm>
            <a:off x="895350" y="6067425"/>
            <a:ext cx="114300" cy="114300"/>
          </a:xfrm>
          <a:prstGeom prst="ellipse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C47FB98-95FB-487E-B5AE-BA21A05C6AB2}"/>
              </a:ext>
            </a:extLst>
          </p:cNvPr>
          <p:cNvSpPr>
            <a:spLocks noGrp="1"/>
          </p:cNvSpPr>
          <p:nvPr/>
        </p:nvSpPr>
        <p:spPr>
          <a:xfrm>
            <a:off x="1104900" y="5972175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ranking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26BB5C0-3189-4E13-AE2C-498AFE2B94DB}"/>
              </a:ext>
            </a:extLst>
          </p:cNvPr>
          <p:cNvSpPr>
            <a:spLocks noGrp="1"/>
          </p:cNvSpPr>
          <p:nvPr/>
        </p:nvSpPr>
        <p:spPr>
          <a:xfrm>
            <a:off x="2724150" y="6067425"/>
            <a:ext cx="114300" cy="114300"/>
          </a:xfrm>
          <a:prstGeom prst="ellipse">
            <a:avLst/>
          </a:prstGeom>
          <a:solidFill>
            <a:srgbClr val="54C7FF"/>
          </a:solidFill>
          <a:ln w="0">
            <a:noFill/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DD6991C-4CCB-4402-8849-735A0C6128F0}"/>
              </a:ext>
            </a:extLst>
          </p:cNvPr>
          <p:cNvSpPr>
            <a:spLocks noGrp="1"/>
          </p:cNvSpPr>
          <p:nvPr/>
        </p:nvSpPr>
        <p:spPr>
          <a:xfrm>
            <a:off x="2933700" y="5972175"/>
            <a:ext cx="2114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contexto de mercado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634AA2C-742C-4404-82ED-F4256B75F0C6}"/>
              </a:ext>
            </a:extLst>
          </p:cNvPr>
          <p:cNvSpPr>
            <a:spLocks noGrp="1"/>
          </p:cNvSpPr>
          <p:nvPr/>
        </p:nvSpPr>
        <p:spPr>
          <a:xfrm>
            <a:off x="5505450" y="6067425"/>
            <a:ext cx="114300" cy="114300"/>
          </a:xfrm>
          <a:prstGeom prst="ellipse">
            <a:avLst/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073BFCF-2572-43F0-982B-31BB596F5FC0}"/>
              </a:ext>
            </a:extLst>
          </p:cNvPr>
          <p:cNvSpPr>
            <a:spLocks noGrp="1"/>
          </p:cNvSpPr>
          <p:nvPr/>
        </p:nvSpPr>
        <p:spPr>
          <a:xfrm>
            <a:off x="5715000" y="59721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histórico e recorrência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2D789D1-2E3F-45A7-BA80-7DF03984CCAA}"/>
              </a:ext>
            </a:extLst>
          </p:cNvPr>
          <p:cNvSpPr>
            <a:spLocks noGrp="1"/>
          </p:cNvSpPr>
          <p:nvPr/>
        </p:nvSpPr>
        <p:spPr>
          <a:xfrm>
            <a:off x="8572500" y="6067425"/>
            <a:ext cx="114300" cy="11430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E22CE28-E920-4E26-9B60-855D092E4C52}"/>
              </a:ext>
            </a:extLst>
          </p:cNvPr>
          <p:cNvSpPr>
            <a:spLocks noGrp="1"/>
          </p:cNvSpPr>
          <p:nvPr/>
        </p:nvSpPr>
        <p:spPr>
          <a:xfrm>
            <a:off x="8782050" y="59721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4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modelos em observação</a:t>
            </a:r>
          </a:p>
        </p:txBody>
      </p:sp>
    </p:spTree>
    <p:extLst>
      <p:ext uri="{BB962C8B-B14F-4D97-AF65-F5344CB8AC3E}">
        <p14:creationId xmlns:p14="http://schemas.microsoft.com/office/powerpoint/2010/main" val="1010995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762E2EC3-9A27-4F07-BC2B-C2B011821A4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66700" cy="19050"/>
          </a:xfrm>
          <a:prstGeom prst="rect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0E3A514-EF12-4B01-A455-C48ED58FB521}"/>
              </a:ext>
            </a:extLst>
          </p:cNvPr>
          <p:cNvSpPr>
            <a:spLocks noGrp="1"/>
          </p:cNvSpPr>
          <p:nvPr/>
        </p:nvSpPr>
        <p:spPr>
          <a:xfrm>
            <a:off x="1066800" y="2571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CARTEIRA HÍBRIDA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0B5108-FC13-4110-BE95-2CE0D03E977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Quatro blocos equilibram retorno e proteção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B75387-2A48-4FF5-A500-0DD641FA97A4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Pesos fixos combinam fontes de retorno com papéis diferentes.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4A15225-E2D4-4D61-A80D-B8239280DFB5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06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BAD683F-9DBA-456A-A89E-44DDAC5B436E}"/>
              </a:ext>
            </a:extLst>
          </p:cNvPr>
          <p:cNvSpPr>
            <a:spLocks noGrp="1"/>
          </p:cNvSpPr>
          <p:nvPr/>
        </p:nvSpPr>
        <p:spPr>
          <a:xfrm>
            <a:off x="933450" y="2333625"/>
            <a:ext cx="9620250" cy="19050"/>
          </a:xfrm>
          <a:prstGeom prst="rect">
            <a:avLst/>
          </a:prstGeom>
          <a:solidFill>
            <a:srgbClr val="263550"/>
          </a:solidFill>
          <a:ln w="0">
            <a:noFill/>
            <a:prstDash val="solid"/>
          </a:ln>
        </p:spPr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6496304-EE3E-41FD-BD13-E976A0980780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514350" cy="514350"/>
          </a:xfrm>
          <a:prstGeom prst="ellipse">
            <a:avLst/>
          </a:prstGeom>
          <a:solidFill>
            <a:srgbClr val="54C7FF"/>
          </a:solidFill>
          <a:ln w="0">
            <a:noFill/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B742518-8048-45AF-9C4C-44D1CAA27CCD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070A12"/>
                </a:solidFill>
                <a:latin typeface="Proxima Nova"/>
                <a:ea typeface="Proxima Nova"/>
                <a:cs typeface="Proxima Nova"/>
              </a:rPr>
              <a:t>30%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FE65257-F96C-40CF-9735-2688E7F1C3B3}"/>
              </a:ext>
            </a:extLst>
          </p:cNvPr>
          <p:cNvSpPr>
            <a:spLocks noGrp="1"/>
          </p:cNvSpPr>
          <p:nvPr/>
        </p:nvSpPr>
        <p:spPr>
          <a:xfrm>
            <a:off x="914400" y="28003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Ações BR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1CD225B-7A2B-4E98-A9B8-498FADF3DD87}"/>
              </a:ext>
            </a:extLst>
          </p:cNvPr>
          <p:cNvSpPr>
            <a:spLocks noGrp="1"/>
          </p:cNvSpPr>
          <p:nvPr/>
        </p:nvSpPr>
        <p:spPr>
          <a:xfrm>
            <a:off x="914400" y="3200400"/>
            <a:ext cx="2143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Top 20 para buscar crescimento no Brasil.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F1DF799-F0DD-497A-BCF5-30E3C1AA8D6B}"/>
              </a:ext>
            </a:extLst>
          </p:cNvPr>
          <p:cNvSpPr>
            <a:spLocks noGrp="1"/>
          </p:cNvSpPr>
          <p:nvPr/>
        </p:nvSpPr>
        <p:spPr>
          <a:xfrm>
            <a:off x="3162300" y="215265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+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A62549C-F7A4-4C96-914B-18E0D4032A05}"/>
              </a:ext>
            </a:extLst>
          </p:cNvPr>
          <p:cNvSpPr>
            <a:spLocks noGrp="1"/>
          </p:cNvSpPr>
          <p:nvPr/>
        </p:nvSpPr>
        <p:spPr>
          <a:xfrm>
            <a:off x="3905250" y="2076450"/>
            <a:ext cx="514350" cy="514350"/>
          </a:xfrm>
          <a:prstGeom prst="ellipse">
            <a:avLst/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536A735-CCDD-49B0-A0E2-BBBD032CA612}"/>
              </a:ext>
            </a:extLst>
          </p:cNvPr>
          <p:cNvSpPr>
            <a:spLocks noGrp="1"/>
          </p:cNvSpPr>
          <p:nvPr/>
        </p:nvSpPr>
        <p:spPr>
          <a:xfrm>
            <a:off x="3905250" y="20764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070A12"/>
                </a:solidFill>
                <a:latin typeface="Proxima Nova"/>
                <a:ea typeface="Proxima Nova"/>
                <a:cs typeface="Proxima Nova"/>
              </a:rPr>
              <a:t>30%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FF4FFEC-5C88-4BC1-B69B-2FB3586A3B4C}"/>
              </a:ext>
            </a:extLst>
          </p:cNvPr>
          <p:cNvSpPr>
            <a:spLocks noGrp="1"/>
          </p:cNvSpPr>
          <p:nvPr/>
        </p:nvSpPr>
        <p:spPr>
          <a:xfrm>
            <a:off x="3905250" y="28003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FIIs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4F0E2C1-4EAA-4C31-8C9D-FA933E48E910}"/>
              </a:ext>
            </a:extLst>
          </p:cNvPr>
          <p:cNvSpPr>
            <a:spLocks noGrp="1"/>
          </p:cNvSpPr>
          <p:nvPr/>
        </p:nvSpPr>
        <p:spPr>
          <a:xfrm>
            <a:off x="3905250" y="3200400"/>
            <a:ext cx="2238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Top 20 para renda e exposição imobiliária.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E49F82B-9194-4225-A0B2-3EC6357C1045}"/>
              </a:ext>
            </a:extLst>
          </p:cNvPr>
          <p:cNvSpPr>
            <a:spLocks noGrp="1"/>
          </p:cNvSpPr>
          <p:nvPr/>
        </p:nvSpPr>
        <p:spPr>
          <a:xfrm>
            <a:off x="6172200" y="215265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+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B1AF473-EC36-4E90-BB06-435EF7A4626C}"/>
              </a:ext>
            </a:extLst>
          </p:cNvPr>
          <p:cNvSpPr>
            <a:spLocks noGrp="1"/>
          </p:cNvSpPr>
          <p:nvPr/>
        </p:nvSpPr>
        <p:spPr>
          <a:xfrm>
            <a:off x="6915150" y="2076450"/>
            <a:ext cx="514350" cy="5143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0C419CB-4AF9-46F8-832A-D5D36A6E632A}"/>
              </a:ext>
            </a:extLst>
          </p:cNvPr>
          <p:cNvSpPr>
            <a:spLocks noGrp="1"/>
          </p:cNvSpPr>
          <p:nvPr/>
        </p:nvSpPr>
        <p:spPr>
          <a:xfrm>
            <a:off x="6915150" y="20764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070A12"/>
                </a:solidFill>
                <a:latin typeface="Proxima Nova"/>
                <a:ea typeface="Proxima Nova"/>
                <a:cs typeface="Proxima Nova"/>
              </a:rPr>
              <a:t>20%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3FEE1C4-0939-4613-A6A2-BC99C07071F6}"/>
              </a:ext>
            </a:extLst>
          </p:cNvPr>
          <p:cNvSpPr>
            <a:spLocks noGrp="1"/>
          </p:cNvSpPr>
          <p:nvPr/>
        </p:nvSpPr>
        <p:spPr>
          <a:xfrm>
            <a:off x="6915150" y="28003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CDI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46B79F4-3620-4439-9E30-139245ED9B8A}"/>
              </a:ext>
            </a:extLst>
          </p:cNvPr>
          <p:cNvSpPr>
            <a:spLocks noGrp="1"/>
          </p:cNvSpPr>
          <p:nvPr/>
        </p:nvSpPr>
        <p:spPr>
          <a:xfrm>
            <a:off x="6915150" y="3200400"/>
            <a:ext cx="2143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Renda fixa para estabilidade e liquidez.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4CC822D-9DC7-4E36-838A-7CEC1F554397}"/>
              </a:ext>
            </a:extLst>
          </p:cNvPr>
          <p:cNvSpPr>
            <a:spLocks noGrp="1"/>
          </p:cNvSpPr>
          <p:nvPr/>
        </p:nvSpPr>
        <p:spPr>
          <a:xfrm>
            <a:off x="9124950" y="2152650"/>
            <a:ext cx="66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285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+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BD29BB03-238D-4505-B4A2-6D3926F01154}"/>
              </a:ext>
            </a:extLst>
          </p:cNvPr>
          <p:cNvSpPr>
            <a:spLocks noGrp="1"/>
          </p:cNvSpPr>
          <p:nvPr/>
        </p:nvSpPr>
        <p:spPr>
          <a:xfrm>
            <a:off x="9867900" y="2076450"/>
            <a:ext cx="514350" cy="514350"/>
          </a:xfrm>
          <a:prstGeom prst="ellipse">
            <a:avLst/>
          </a:prstGeom>
          <a:solidFill>
            <a:srgbClr val="F472B6"/>
          </a:solidFill>
          <a:ln w="0">
            <a:noFill/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C94B2A6-EC6B-492F-8764-8A53AF44E2EE}"/>
              </a:ext>
            </a:extLst>
          </p:cNvPr>
          <p:cNvSpPr>
            <a:spLocks noGrp="1"/>
          </p:cNvSpPr>
          <p:nvPr/>
        </p:nvSpPr>
        <p:spPr>
          <a:xfrm>
            <a:off x="9867900" y="20764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070A12"/>
                </a:solidFill>
                <a:latin typeface="Proxima Nova"/>
                <a:ea typeface="Proxima Nova"/>
                <a:cs typeface="Proxima Nova"/>
              </a:rPr>
              <a:t>20%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7992E81-F577-41E2-99D2-63D59A1F84AE}"/>
              </a:ext>
            </a:extLst>
          </p:cNvPr>
          <p:cNvSpPr>
            <a:spLocks noGrp="1"/>
          </p:cNvSpPr>
          <p:nvPr/>
        </p:nvSpPr>
        <p:spPr>
          <a:xfrm>
            <a:off x="9867900" y="28003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IVVB11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C7E60F3-3A57-455C-BE0A-4218CDF5A661}"/>
              </a:ext>
            </a:extLst>
          </p:cNvPr>
          <p:cNvSpPr>
            <a:spLocks noGrp="1"/>
          </p:cNvSpPr>
          <p:nvPr/>
        </p:nvSpPr>
        <p:spPr>
          <a:xfrm>
            <a:off x="9867900" y="3200400"/>
            <a:ext cx="171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05"/>
          </a:bodyPr>
          <a:lstStyle/>
          <a:p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Exposição global às empresas dos EUA e ao dólar.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5859037B-8F56-4D46-A653-1C1655A692A6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10820400" cy="1066800"/>
          </a:xfrm>
          <a:prstGeom prst="roundRect">
            <a:avLst>
              <a:gd name="adj" fmla="val 17857"/>
            </a:avLst>
          </a:prstGeom>
          <a:solidFill>
            <a:srgbClr val="10182B"/>
          </a:solidFill>
          <a:ln w="9525">
            <a:solidFill>
              <a:srgbClr val="263550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70AFC6A-9CB5-4C16-BA2A-639D469840D0}"/>
              </a:ext>
            </a:extLst>
          </p:cNvPr>
          <p:cNvSpPr>
            <a:spLocks noGrp="1"/>
          </p:cNvSpPr>
          <p:nvPr/>
        </p:nvSpPr>
        <p:spPr>
          <a:xfrm>
            <a:off x="1047750" y="51244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941"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Exemplo com R$ 10 mil: R$ 3 mil em ações + R$ 3 mil em FIIs + R$ 2 mil em CDI + R$ 2 mil em IVVB11.</a:t>
            </a:r>
          </a:p>
        </p:txBody>
      </p:sp>
    </p:spTree>
    <p:extLst>
      <p:ext uri="{BB962C8B-B14F-4D97-AF65-F5344CB8AC3E}">
        <p14:creationId xmlns:p14="http://schemas.microsoft.com/office/powerpoint/2010/main" val="161341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ângulo 40">
            <a:extLst>
              <a:ext uri="{FF2B5EF4-FFF2-40B4-BE49-F238E27FC236}">
                <a16:creationId xmlns:a16="http://schemas.microsoft.com/office/drawing/2014/main" id="{A80AC2E1-D756-4D89-A977-414D13ECEA4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66700" cy="19050"/>
          </a:xfrm>
          <a:prstGeom prst="rect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767B983-ABFC-4A59-ADCC-4EAB1C1D0041}"/>
              </a:ext>
            </a:extLst>
          </p:cNvPr>
          <p:cNvSpPr>
            <a:spLocks noGrp="1"/>
          </p:cNvSpPr>
          <p:nvPr/>
        </p:nvSpPr>
        <p:spPr>
          <a:xfrm>
            <a:off x="1066800" y="2571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EXEMPLO REAL DO RADAR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704636E-4BD8-4241-A30F-587A3F5C26C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570"/>
          </a:bodyPr>
          <a:lstStyle/>
          <a:p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CDI e IVVB11 amorteceram a queda da renda variável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95EF0BD-5583-4EB4-90BD-0173381E7EF7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De 04/07 a 01/09/2026, a carteira híbrida acumulou −2,24%.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DB4ED17-84F3-4BFB-AB12-C19FEA1F4635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07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048BDE8-CCA9-4AD8-B749-31CAEF49F2DC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defRPr>
            </a:pPr>
            <a:r>
              <a:rPr sz="2550" b="1">
                <a:solidFill>
                  <a:srgbClr val="A78BFA"/>
                </a:solidFill>
                <a:latin typeface="Proxima Nova"/>
                <a:ea typeface="Proxima Nova"/>
                <a:cs typeface="Proxima Nova"/>
              </a:rPr>
              <a:t>Retorno dos blocos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3059A7B-333A-4718-884D-9EFE0C449A40}"/>
              </a:ext>
            </a:extLst>
          </p:cNvPr>
          <p:cNvSpPr>
            <a:spLocks noGrp="1"/>
          </p:cNvSpPr>
          <p:nvPr/>
        </p:nvSpPr>
        <p:spPr>
          <a:xfrm>
            <a:off x="7600950" y="19621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787"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defRPr>
            </a:pPr>
            <a:r>
              <a:rPr sz="2550" b="1">
                <a:solidFill>
                  <a:srgbClr val="54C7FF"/>
                </a:solidFill>
                <a:latin typeface="Proxima Nova"/>
                <a:ea typeface="Proxima Nova"/>
                <a:cs typeface="Proxima Nova"/>
              </a:rPr>
              <a:t>Contribuição na carteira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641CBBA-C28F-4BC7-B629-754070CB0A65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85725" cy="85725"/>
          </a:xfrm>
          <a:prstGeom prst="ellipse">
            <a:avLst/>
          </a:prstGeom>
          <a:solidFill>
            <a:srgbClr val="54C7FF"/>
          </a:solidFill>
          <a:ln w="0">
            <a:noFill/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21A27BF-8160-4EB6-9762-5DBE0EC7AA96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3790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Ações BR  −2,14%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925A6E0-84F1-4A78-A4C0-F3438CA3A53A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85725" cy="85725"/>
          </a:xfrm>
          <a:prstGeom prst="ellipse">
            <a:avLst/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B28C518-8070-4CC4-8731-190B49E83F67}"/>
              </a:ext>
            </a:extLst>
          </p:cNvPr>
          <p:cNvSpPr>
            <a:spLocks noGrp="1"/>
          </p:cNvSpPr>
          <p:nvPr/>
        </p:nvSpPr>
        <p:spPr>
          <a:xfrm>
            <a:off x="895350" y="2971800"/>
            <a:ext cx="3790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FIIs  −8,20%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96EE7C6-FF2E-46BA-B81C-A433FBA6976E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85725" cy="85725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864B238-F226-4F9A-8F02-E120109DA3CA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3790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CDI  +2,21%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615106A-F7E5-43F8-9F5D-2EA6BC1252A7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85725" cy="85725"/>
          </a:xfrm>
          <a:prstGeom prst="ellipse">
            <a:avLst/>
          </a:prstGeom>
          <a:solidFill>
            <a:srgbClr val="F472B6"/>
          </a:solidFill>
          <a:ln w="0">
            <a:noFill/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1F19C6C-3E4F-411F-BE86-BFED25A9ACCC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3790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IVVB11  +1,64%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011CA5C7-AF49-404D-BF81-E7EF4027972D}"/>
              </a:ext>
            </a:extLst>
          </p:cNvPr>
          <p:cNvSpPr>
            <a:spLocks noGrp="1"/>
          </p:cNvSpPr>
          <p:nvPr/>
        </p:nvSpPr>
        <p:spPr>
          <a:xfrm>
            <a:off x="7600950" y="2647950"/>
            <a:ext cx="85725" cy="85725"/>
          </a:xfrm>
          <a:prstGeom prst="ellipse">
            <a:avLst/>
          </a:prstGeom>
          <a:solidFill>
            <a:srgbClr val="54C7FF"/>
          </a:solidFill>
          <a:ln w="0">
            <a:noFill/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F1CF66A-6102-47CE-9E52-52AE40DE88A9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Ações BR  −0,509 p.p.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EEB7C13-055F-4F63-BC79-FFEFABCF7805}"/>
              </a:ext>
            </a:extLst>
          </p:cNvPr>
          <p:cNvSpPr>
            <a:spLocks noGrp="1"/>
          </p:cNvSpPr>
          <p:nvPr/>
        </p:nvSpPr>
        <p:spPr>
          <a:xfrm>
            <a:off x="7600950" y="3048000"/>
            <a:ext cx="85725" cy="85725"/>
          </a:xfrm>
          <a:prstGeom prst="ellipse">
            <a:avLst/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D5F4BCF-B2CA-4B3E-87C3-0C03FECA2AB4}"/>
              </a:ext>
            </a:extLst>
          </p:cNvPr>
          <p:cNvSpPr>
            <a:spLocks noGrp="1"/>
          </p:cNvSpPr>
          <p:nvPr/>
        </p:nvSpPr>
        <p:spPr>
          <a:xfrm>
            <a:off x="7810500" y="2971800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FIIs  −2,491 p.p.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5CD095B-8FF3-4252-8ABB-7477C23E3B12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85725" cy="85725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96F5FE7-5CA4-4D4F-947A-4CB7EB3C83B5}"/>
              </a:ext>
            </a:extLst>
          </p:cNvPr>
          <p:cNvSpPr>
            <a:spLocks noGrp="1"/>
          </p:cNvSpPr>
          <p:nvPr/>
        </p:nvSpPr>
        <p:spPr>
          <a:xfrm>
            <a:off x="7810500" y="3371850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CDI  +0,429 p.p.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6C6C7A0A-941C-4223-921E-A07EC0CD8901}"/>
              </a:ext>
            </a:extLst>
          </p:cNvPr>
          <p:cNvSpPr>
            <a:spLocks noGrp="1"/>
          </p:cNvSpPr>
          <p:nvPr/>
        </p:nvSpPr>
        <p:spPr>
          <a:xfrm>
            <a:off x="7600950" y="3848100"/>
            <a:ext cx="85725" cy="85725"/>
          </a:xfrm>
          <a:prstGeom prst="ellipse">
            <a:avLst/>
          </a:prstGeom>
          <a:solidFill>
            <a:srgbClr val="F472B6"/>
          </a:solidFill>
          <a:ln w="0">
            <a:noFill/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43C4DB0-EF95-423E-8F73-54E2519F4B4E}"/>
              </a:ext>
            </a:extLst>
          </p:cNvPr>
          <p:cNvSpPr>
            <a:spLocks noGrp="1"/>
          </p:cNvSpPr>
          <p:nvPr/>
        </p:nvSpPr>
        <p:spPr>
          <a:xfrm>
            <a:off x="7810500" y="3771900"/>
            <a:ext cx="3695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IVVB11  +0,335 p.p.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B94C668F-5C3C-4877-A6A3-9218CBFFF4F0}"/>
              </a:ext>
            </a:extLst>
          </p:cNvPr>
          <p:cNvSpPr>
            <a:spLocks noGrp="1"/>
          </p:cNvSpPr>
          <p:nvPr/>
        </p:nvSpPr>
        <p:spPr>
          <a:xfrm>
            <a:off x="4905375" y="2381250"/>
            <a:ext cx="2381250" cy="2381250"/>
          </a:xfrm>
          <a:prstGeom prst="ellipse">
            <a:avLst/>
          </a:prstGeom>
          <a:solidFill>
            <a:srgbClr val="111A2D"/>
          </a:solidFill>
          <a:ln w="19050">
            <a:solidFill>
              <a:srgbClr val="263550"/>
            </a:solidFill>
            <a:prstDash val="solid"/>
          </a:ln>
        </p:spPr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5D6BD21-68E8-4909-B33F-8168AB1D1059}"/>
              </a:ext>
            </a:extLst>
          </p:cNvPr>
          <p:cNvSpPr>
            <a:spLocks noGrp="1"/>
          </p:cNvSpPr>
          <p:nvPr/>
        </p:nvSpPr>
        <p:spPr>
          <a:xfrm>
            <a:off x="5095875" y="3000375"/>
            <a:ext cx="2000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4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4200" b="1">
                <a:solidFill>
                  <a:srgbClr val="FB7185"/>
                </a:solidFill>
                <a:latin typeface="Proxima Nova"/>
                <a:ea typeface="Proxima Nova"/>
                <a:cs typeface="Proxima Nova"/>
              </a:rPr>
              <a:t>−2,24%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DE7F4AB-E6DB-4951-9850-5E67324DB25A}"/>
              </a:ext>
            </a:extLst>
          </p:cNvPr>
          <p:cNvSpPr>
            <a:spLocks noGrp="1"/>
          </p:cNvSpPr>
          <p:nvPr/>
        </p:nvSpPr>
        <p:spPr>
          <a:xfrm>
            <a:off x="5219700" y="3819525"/>
            <a:ext cx="1752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1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resultado total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C1423C85-453D-4CC9-918F-C6CE30EE9228}"/>
              </a:ext>
            </a:extLst>
          </p:cNvPr>
          <p:cNvSpPr>
            <a:spLocks noGrp="1"/>
          </p:cNvSpPr>
          <p:nvPr/>
        </p:nvSpPr>
        <p:spPr>
          <a:xfrm>
            <a:off x="4229100" y="5429250"/>
            <a:ext cx="3733800" cy="781050"/>
          </a:xfrm>
          <a:prstGeom prst="roundRect">
            <a:avLst>
              <a:gd name="adj" fmla="val 21951"/>
            </a:avLst>
          </a:prstGeom>
          <a:solidFill>
            <a:srgbClr val="10182B"/>
          </a:solidFill>
          <a:ln w="9525">
            <a:solidFill>
              <a:srgbClr val="263550"/>
            </a:solidFill>
            <a:prstDash val="solid"/>
          </a:ln>
        </p:spPr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9044003E-3670-4448-9B90-0094A99D4AC5}"/>
              </a:ext>
            </a:extLst>
          </p:cNvPr>
          <p:cNvSpPr>
            <a:spLocks noGrp="1"/>
          </p:cNvSpPr>
          <p:nvPr/>
        </p:nvSpPr>
        <p:spPr>
          <a:xfrm>
            <a:off x="4438650" y="5553075"/>
            <a:ext cx="3314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1369"/>
          </a:bodyPr>
          <a:lstStyle/>
          <a:p>
            <a:pPr algn="ctr">
              <a:lnSpc>
                <a:spcPct val="110000"/>
              </a:lnSpc>
              <a:buNone/>
              <a:defRPr sz="13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3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CDI e IVVB11 somaram +0,764 p.p. e amorteceram a queda.</a:t>
            </a:r>
          </a:p>
          <a:p>
            <a:pPr algn="ctr">
              <a:lnSpc>
                <a:spcPct val="110000"/>
              </a:lnSpc>
              <a:buNone/>
              <a:defRPr sz="13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3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Resultado histórico; não é previsão nem recomendação.</a:t>
            </a:r>
          </a:p>
        </p:txBody>
      </p:sp>
    </p:spTree>
    <p:extLst>
      <p:ext uri="{BB962C8B-B14F-4D97-AF65-F5344CB8AC3E}">
        <p14:creationId xmlns:p14="http://schemas.microsoft.com/office/powerpoint/2010/main" val="1985044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9ED8152B-FC52-48BD-AD0A-AF5EB56943F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66700" cy="19050"/>
          </a:xfrm>
          <a:prstGeom prst="rect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38DED06-9716-4997-9410-B435E5309218}"/>
              </a:ext>
            </a:extLst>
          </p:cNvPr>
          <p:cNvSpPr>
            <a:spLocks noGrp="1"/>
          </p:cNvSpPr>
          <p:nvPr/>
        </p:nvSpPr>
        <p:spPr>
          <a:xfrm>
            <a:off x="1066800" y="2571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POR QUE CONFIAR NO PROCESSO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7E03DB7-94DD-4462-B9E2-DBCF88BA4F2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Transparência vem antes de previsão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0681BD1-8237-4EA4-B25B-C7B94502CBEE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O projeto registra o que fez, com quais dados e sob quais limitações.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4A76F18-D4B9-4D71-90F5-6E75E06316C1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08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3242212-3D0D-43DF-BC98-BD5D1EC446AF}"/>
              </a:ext>
            </a:extLst>
          </p:cNvPr>
          <p:cNvSpPr>
            <a:spLocks noGrp="1"/>
          </p:cNvSpPr>
          <p:nvPr/>
        </p:nvSpPr>
        <p:spPr>
          <a:xfrm>
            <a:off x="1028700" y="2095500"/>
            <a:ext cx="28575" cy="3667125"/>
          </a:xfrm>
          <a:prstGeom prst="rect">
            <a:avLst/>
          </a:prstGeom>
          <a:solidFill>
            <a:srgbClr val="263550"/>
          </a:solidFill>
          <a:ln w="0">
            <a:noFill/>
            <a:prstDash val="solid"/>
          </a:ln>
        </p:spPr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DC6A9FA-D3E3-4125-8217-A7BB3702C95C}"/>
              </a:ext>
            </a:extLst>
          </p:cNvPr>
          <p:cNvSpPr>
            <a:spLocks noGrp="1"/>
          </p:cNvSpPr>
          <p:nvPr/>
        </p:nvSpPr>
        <p:spPr>
          <a:xfrm>
            <a:off x="847725" y="2114550"/>
            <a:ext cx="381000" cy="381000"/>
          </a:xfrm>
          <a:prstGeom prst="ellipse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797631F-D2C6-4AB3-80D6-855981EB7767}"/>
              </a:ext>
            </a:extLst>
          </p:cNvPr>
          <p:cNvSpPr>
            <a:spLocks noGrp="1"/>
          </p:cNvSpPr>
          <p:nvPr/>
        </p:nvSpPr>
        <p:spPr>
          <a:xfrm>
            <a:off x="847725" y="21145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✓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ED72CD7-F000-4FA0-B58D-1B88CA86D3A2}"/>
              </a:ext>
            </a:extLst>
          </p:cNvPr>
          <p:cNvSpPr>
            <a:spLocks noGrp="1"/>
          </p:cNvSpPr>
          <p:nvPr/>
        </p:nvSpPr>
        <p:spPr>
          <a:xfrm>
            <a:off x="1562100" y="20002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Fontes públicas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5ADE832-1C98-480E-BA26-DE6CAD8D85E3}"/>
              </a:ext>
            </a:extLst>
          </p:cNvPr>
          <p:cNvSpPr>
            <a:spLocks noGrp="1"/>
          </p:cNvSpPr>
          <p:nvPr/>
        </p:nvSpPr>
        <p:spPr>
          <a:xfrm>
            <a:off x="4933950" y="2009775"/>
            <a:ext cx="628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A origem dos dados fica explícita e pode ser conferida.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66A9C7A-CF6E-40E9-B663-D9D5D4F90FB5}"/>
              </a:ext>
            </a:extLst>
          </p:cNvPr>
          <p:cNvSpPr>
            <a:spLocks noGrp="1"/>
          </p:cNvSpPr>
          <p:nvPr/>
        </p:nvSpPr>
        <p:spPr>
          <a:xfrm>
            <a:off x="847725" y="3067050"/>
            <a:ext cx="381000" cy="381000"/>
          </a:xfrm>
          <a:prstGeom prst="ellipse">
            <a:avLst/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AEC5C87-77A7-4654-A025-9C864F28FF44}"/>
              </a:ext>
            </a:extLst>
          </p:cNvPr>
          <p:cNvSpPr>
            <a:spLocks noGrp="1"/>
          </p:cNvSpPr>
          <p:nvPr/>
        </p:nvSpPr>
        <p:spPr>
          <a:xfrm>
            <a:off x="847725" y="30670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✓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BC93024-5498-4408-B78B-C23094F15309}"/>
              </a:ext>
            </a:extLst>
          </p:cNvPr>
          <p:cNvSpPr>
            <a:spLocks noGrp="1"/>
          </p:cNvSpPr>
          <p:nvPr/>
        </p:nvSpPr>
        <p:spPr>
          <a:xfrm>
            <a:off x="1562100" y="29527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Histórico preservado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41C433F-66EE-4187-8415-F946742F4BB2}"/>
              </a:ext>
            </a:extLst>
          </p:cNvPr>
          <p:cNvSpPr>
            <a:spLocks noGrp="1"/>
          </p:cNvSpPr>
          <p:nvPr/>
        </p:nvSpPr>
        <p:spPr>
          <a:xfrm>
            <a:off x="4933950" y="2962275"/>
            <a:ext cx="628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Snapshots incrementais permitem reconstruir os derivados.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A19B2E7-3A24-4524-AA96-08F63DF269F0}"/>
              </a:ext>
            </a:extLst>
          </p:cNvPr>
          <p:cNvSpPr>
            <a:spLocks noGrp="1"/>
          </p:cNvSpPr>
          <p:nvPr/>
        </p:nvSpPr>
        <p:spPr>
          <a:xfrm>
            <a:off x="847725" y="4019550"/>
            <a:ext cx="381000" cy="381000"/>
          </a:xfrm>
          <a:prstGeom prst="ellipse">
            <a:avLst/>
          </a:prstGeom>
          <a:solidFill>
            <a:srgbClr val="54C7FF"/>
          </a:solidFill>
          <a:ln w="0">
            <a:noFill/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60F6171-CAFF-470F-8D91-0DA3F6BC2DF3}"/>
              </a:ext>
            </a:extLst>
          </p:cNvPr>
          <p:cNvSpPr>
            <a:spLocks noGrp="1"/>
          </p:cNvSpPr>
          <p:nvPr/>
        </p:nvSpPr>
        <p:spPr>
          <a:xfrm>
            <a:off x="847725" y="40195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✓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BB5D1DB-DD7E-4DA2-BD63-43A3E47DE505}"/>
              </a:ext>
            </a:extLst>
          </p:cNvPr>
          <p:cNvSpPr>
            <a:spLocks noGrp="1"/>
          </p:cNvSpPr>
          <p:nvPr/>
        </p:nvSpPr>
        <p:spPr>
          <a:xfrm>
            <a:off x="1562100" y="39052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Backtest auditável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9CBE257-EDDC-4F6D-B085-4321BFEB0124}"/>
              </a:ext>
            </a:extLst>
          </p:cNvPr>
          <p:cNvSpPr>
            <a:spLocks noGrp="1"/>
          </p:cNvSpPr>
          <p:nvPr/>
        </p:nvSpPr>
        <p:spPr>
          <a:xfrm>
            <a:off x="4933950" y="3914775"/>
            <a:ext cx="628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Entrada, custos, cobertura e dados ausentes são registrados.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4FA0F53-0828-4569-8A24-16E852C3C67E}"/>
              </a:ext>
            </a:extLst>
          </p:cNvPr>
          <p:cNvSpPr>
            <a:spLocks noGrp="1"/>
          </p:cNvSpPr>
          <p:nvPr/>
        </p:nvSpPr>
        <p:spPr>
          <a:xfrm>
            <a:off x="847725" y="4972050"/>
            <a:ext cx="381000" cy="38100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89E7EE3-B341-4B13-A80F-F9075AB22E22}"/>
              </a:ext>
            </a:extLst>
          </p:cNvPr>
          <p:cNvSpPr>
            <a:spLocks noGrp="1"/>
          </p:cNvSpPr>
          <p:nvPr/>
        </p:nvSpPr>
        <p:spPr>
          <a:xfrm>
            <a:off x="847725" y="49720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✓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88D6D08-6E98-4018-A6B4-FAB8D1B69ED2}"/>
              </a:ext>
            </a:extLst>
          </p:cNvPr>
          <p:cNvSpPr>
            <a:spLocks noGrp="1"/>
          </p:cNvSpPr>
          <p:nvPr/>
        </p:nvSpPr>
        <p:spPr>
          <a:xfrm>
            <a:off x="1562100" y="48577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ML em modo sombra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00F7FB3-898A-47AD-A0A3-6971EF506A78}"/>
              </a:ext>
            </a:extLst>
          </p:cNvPr>
          <p:cNvSpPr>
            <a:spLocks noGrp="1"/>
          </p:cNvSpPr>
          <p:nvPr/>
        </p:nvSpPr>
        <p:spPr>
          <a:xfrm>
            <a:off x="4933950" y="4867275"/>
            <a:ext cx="628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Modelos aprendem e são avaliados sem trocar o ranking oficial.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55C95305-995D-44AE-BFB9-A98FA97C3C85}"/>
              </a:ext>
            </a:extLst>
          </p:cNvPr>
          <p:cNvSpPr>
            <a:spLocks noGrp="1"/>
          </p:cNvSpPr>
          <p:nvPr/>
        </p:nvSpPr>
        <p:spPr>
          <a:xfrm>
            <a:off x="1562100" y="5848350"/>
            <a:ext cx="9658350" cy="514350"/>
          </a:xfrm>
          <a:prstGeom prst="roundRect">
            <a:avLst>
              <a:gd name="adj" fmla="val 29630"/>
            </a:avLst>
          </a:prstGeom>
          <a:solidFill>
            <a:srgbClr val="10182B"/>
          </a:solidFill>
          <a:ln w="9525">
            <a:solidFill>
              <a:srgbClr val="263550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3292AB6-8D32-4D6B-9AA2-539E5C108BC8}"/>
              </a:ext>
            </a:extLst>
          </p:cNvPr>
          <p:cNvSpPr>
            <a:spLocks noGrp="1"/>
          </p:cNvSpPr>
          <p:nvPr/>
        </p:nvSpPr>
        <p:spPr>
          <a:xfrm>
            <a:off x="1809750" y="5848350"/>
            <a:ext cx="914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Testes automatizados + healthcheck de dados antes da publicação</a:t>
            </a:r>
          </a:p>
        </p:txBody>
      </p:sp>
    </p:spTree>
    <p:extLst>
      <p:ext uri="{BB962C8B-B14F-4D97-AF65-F5344CB8AC3E}">
        <p14:creationId xmlns:p14="http://schemas.microsoft.com/office/powerpoint/2010/main" val="1868865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E25AE4E8-1764-4348-B108-40589BA80A4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66700" cy="19050"/>
          </a:xfrm>
          <a:prstGeom prst="rect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267BB1D-0C28-4436-B93B-2EA29C990937}"/>
              </a:ext>
            </a:extLst>
          </p:cNvPr>
          <p:cNvSpPr>
            <a:spLocks noGrp="1"/>
          </p:cNvSpPr>
          <p:nvPr/>
        </p:nvSpPr>
        <p:spPr>
          <a:xfrm>
            <a:off x="1066800" y="2571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COMO USAR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C6F7B1B-EDFF-459B-92A9-FD89B7D6AF82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Use o Radar para fazer perguntas melhores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5228ED6-B303-4401-BB70-61F1DE3128A1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Ele organiza o ponto de partida; a decisão continua sendo sua.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2ADF6BA-4E0C-4879-8948-2551D1BF51C7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09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BADAAEE-818D-44C7-B5FE-7627ADC253B9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514350" cy="514350"/>
          </a:xfrm>
          <a:prstGeom prst="ellipse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7394CE7-8CA7-4E17-A5BD-1B7FD4A27E98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7F7FCC9-40E5-4D55-8A75-79B947A28D01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Descubra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9BC587B-391E-4774-851C-68299C923E08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2571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Encontre ativos que merecem uma primeira análise.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0A4DD80-755A-449E-9C39-949911307BDE}"/>
              </a:ext>
            </a:extLst>
          </p:cNvPr>
          <p:cNvSpPr>
            <a:spLocks noGrp="1"/>
          </p:cNvSpPr>
          <p:nvPr/>
        </p:nvSpPr>
        <p:spPr>
          <a:xfrm>
            <a:off x="3333750" y="2266950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7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27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→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E428D1E-66F1-4BA3-850E-3EB4D8E36848}"/>
              </a:ext>
            </a:extLst>
          </p:cNvPr>
          <p:cNvSpPr>
            <a:spLocks noGrp="1"/>
          </p:cNvSpPr>
          <p:nvPr/>
        </p:nvSpPr>
        <p:spPr>
          <a:xfrm>
            <a:off x="4095750" y="2190750"/>
            <a:ext cx="514350" cy="514350"/>
          </a:xfrm>
          <a:prstGeom prst="ellipse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FD86BFB-3EB8-4CA4-9015-831CB7846E8E}"/>
              </a:ext>
            </a:extLst>
          </p:cNvPr>
          <p:cNvSpPr>
            <a:spLocks noGrp="1"/>
          </p:cNvSpPr>
          <p:nvPr/>
        </p:nvSpPr>
        <p:spPr>
          <a:xfrm>
            <a:off x="4095750" y="21907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41BCDFE-5685-4DCC-A9C4-8826408A66EC}"/>
              </a:ext>
            </a:extLst>
          </p:cNvPr>
          <p:cNvSpPr>
            <a:spLocks noGrp="1"/>
          </p:cNvSpPr>
          <p:nvPr/>
        </p:nvSpPr>
        <p:spPr>
          <a:xfrm>
            <a:off x="4095750" y="29146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Compare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B34D403-012A-4364-A204-2271A8FE0BCF}"/>
              </a:ext>
            </a:extLst>
          </p:cNvPr>
          <p:cNvSpPr>
            <a:spLocks noGrp="1"/>
          </p:cNvSpPr>
          <p:nvPr/>
        </p:nvSpPr>
        <p:spPr>
          <a:xfrm>
            <a:off x="4095750" y="3314700"/>
            <a:ext cx="2571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Entenda quais indicadores ajudaram no score.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F136479-0A83-41C8-A1A8-3D2F38D1FC66}"/>
              </a:ext>
            </a:extLst>
          </p:cNvPr>
          <p:cNvSpPr>
            <a:spLocks noGrp="1"/>
          </p:cNvSpPr>
          <p:nvPr/>
        </p:nvSpPr>
        <p:spPr>
          <a:xfrm>
            <a:off x="6800850" y="2266950"/>
            <a:ext cx="59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7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27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→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F2D088D-C1EC-45D1-9DE4-664ABE6826EC}"/>
              </a:ext>
            </a:extLst>
          </p:cNvPr>
          <p:cNvSpPr>
            <a:spLocks noGrp="1"/>
          </p:cNvSpPr>
          <p:nvPr/>
        </p:nvSpPr>
        <p:spPr>
          <a:xfrm>
            <a:off x="7562850" y="2190750"/>
            <a:ext cx="514350" cy="514350"/>
          </a:xfrm>
          <a:prstGeom prst="ellipse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1207605-33A9-4366-BC26-EFC084777CBC}"/>
              </a:ext>
            </a:extLst>
          </p:cNvPr>
          <p:cNvSpPr>
            <a:spLocks noGrp="1"/>
          </p:cNvSpPr>
          <p:nvPr/>
        </p:nvSpPr>
        <p:spPr>
          <a:xfrm>
            <a:off x="7562850" y="21907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80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rPr>
              <a:t>3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F230751-0087-447B-89EC-81C1F53F28EA}"/>
              </a:ext>
            </a:extLst>
          </p:cNvPr>
          <p:cNvSpPr>
            <a:spLocks noGrp="1"/>
          </p:cNvSpPr>
          <p:nvPr/>
        </p:nvSpPr>
        <p:spPr>
          <a:xfrm>
            <a:off x="7562850" y="29146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02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Aprofunde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95F3D1C-7740-4DD3-8D6E-4F06A598C89A}"/>
              </a:ext>
            </a:extLst>
          </p:cNvPr>
          <p:cNvSpPr>
            <a:spLocks noGrp="1"/>
          </p:cNvSpPr>
          <p:nvPr/>
        </p:nvSpPr>
        <p:spPr>
          <a:xfrm>
            <a:off x="7562850" y="3314700"/>
            <a:ext cx="2571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Confirme riscos, estratégia e adequação ao seu perfil.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F8B6EAD-8B04-451F-8C8F-397EA3E7DDC4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7239000" cy="1352550"/>
          </a:xfrm>
          <a:prstGeom prst="roundRect">
            <a:avLst>
              <a:gd name="adj" fmla="val 16901"/>
            </a:avLst>
          </a:prstGeom>
          <a:solidFill>
            <a:srgbClr val="111A2D"/>
          </a:solidFill>
          <a:ln w="19050">
            <a:solidFill>
              <a:srgbClr val="263550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389CD37-0550-4931-B06F-72E11C8D7A14}"/>
              </a:ext>
            </a:extLst>
          </p:cNvPr>
          <p:cNvSpPr>
            <a:spLocks noGrp="1"/>
          </p:cNvSpPr>
          <p:nvPr/>
        </p:nvSpPr>
        <p:spPr>
          <a:xfrm>
            <a:off x="1009650" y="4876800"/>
            <a:ext cx="6591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55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O Radar não diz o que comprar.</a:t>
            </a:r>
          </a:p>
          <a:p>
            <a:pPr algn="l">
              <a:lnSpc>
                <a:spcPct val="108000"/>
              </a:lnSpc>
              <a:buNone/>
              <a:defRPr sz="255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255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Ele organiza por onde começar.</a:t>
            </a:r>
          </a:p>
        </p:txBody>
      </p:sp>
      <p:pic>
        <p:nvPicPr>
          <p:cNvPr id="50" name="Imagem 49"/>
          <p:cNvPicPr>
            <a:picLocks noChangeAspect="1"/>
          </p:cNvPicPr>
          <p:nvPr/>
        </p:nvPicPr>
        <p:blipFill>
          <a:blip r:embed="rId3"/>
          <a:srcRect t="8357" b="8357"/>
          <a:stretch>
            <a:fillRect/>
          </a:stretch>
        </p:blipFill>
        <p:spPr>
          <a:xfrm>
            <a:off x="8401050" y="4533900"/>
            <a:ext cx="1104900" cy="1104900"/>
          </a:xfrm>
          <a:prstGeom prst="ellipse">
            <a:avLst/>
          </a:prstGeom>
        </p:spPr>
      </p:pic>
      <p:sp>
        <p:nvSpPr>
          <p:cNvPr id="23" name="Retângulo 22">
            <a:extLst>
              <a:ext uri="{FF2B5EF4-FFF2-40B4-BE49-F238E27FC236}">
                <a16:creationId xmlns:a16="http://schemas.microsoft.com/office/drawing/2014/main" id="{7A5186B5-B341-40C1-827A-2A524DCDDDC8}"/>
              </a:ext>
            </a:extLst>
          </p:cNvPr>
          <p:cNvSpPr>
            <a:spLocks noGrp="1"/>
          </p:cNvSpPr>
          <p:nvPr/>
        </p:nvSpPr>
        <p:spPr>
          <a:xfrm>
            <a:off x="9696450" y="46672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Ítalo Petricioni Statonato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5BA9F74-5026-4026-9C04-3AD1BAB722C9}"/>
              </a:ext>
            </a:extLst>
          </p:cNvPr>
          <p:cNvSpPr>
            <a:spLocks noGrp="1"/>
          </p:cNvSpPr>
          <p:nvPr/>
        </p:nvSpPr>
        <p:spPr>
          <a:xfrm>
            <a:off x="9696450" y="5191125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Dados • automação • análise quantitativa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391FFB1E-6185-45FF-92DD-CD64B927975C}"/>
              </a:ext>
            </a:extLst>
          </p:cNvPr>
          <p:cNvSpPr>
            <a:spLocks noGrp="1"/>
          </p:cNvSpPr>
          <p:nvPr/>
        </p:nvSpPr>
        <p:spPr>
          <a:xfrm>
            <a:off x="8401050" y="5810250"/>
            <a:ext cx="3105150" cy="438150"/>
          </a:xfrm>
          <a:prstGeom prst="roundRect">
            <a:avLst>
              <a:gd name="adj" fmla="val 50000"/>
            </a:avLst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3C1C7018-876E-466E-9D24-72B3B5101DAB}"/>
              </a:ext>
            </a:extLst>
          </p:cNvPr>
          <p:cNvSpPr>
            <a:spLocks noGrp="1"/>
          </p:cNvSpPr>
          <p:nvPr/>
        </p:nvSpPr>
        <p:spPr>
          <a:xfrm>
            <a:off x="8401050" y="5810250"/>
            <a:ext cx="3105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11827"/>
                </a:solidFill>
                <a:latin typeface="Proxima Nova"/>
                <a:ea typeface="Proxima Nova"/>
                <a:cs typeface="Proxima Nova"/>
              </a:defRPr>
            </a:pPr>
            <a:r>
              <a:rPr sz="1350" b="1">
                <a:solidFill>
                  <a:srgbClr val="111827"/>
                </a:solidFill>
                <a:latin typeface="Proxima Nova"/>
                <a:ea typeface="Proxima Nova"/>
                <a:cs typeface="Proxima Nova"/>
                <a:hlinkClick r:id="rId4"/>
              </a:rPr>
              <a:t>Abrir o dashboard ↗</a:t>
            </a:r>
          </a:p>
        </p:txBody>
      </p:sp>
    </p:spTree>
    <p:extLst>
      <p:ext uri="{BB962C8B-B14F-4D97-AF65-F5344CB8AC3E}">
        <p14:creationId xmlns:p14="http://schemas.microsoft.com/office/powerpoint/2010/main" val="414014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06CE8664-4722-4AD4-A621-152C3047437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66700" cy="19050"/>
          </a:xfrm>
          <a:prstGeom prst="rect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0DF661F-F0E2-4CC3-87C2-6DF187D6423E}"/>
              </a:ext>
            </a:extLst>
          </p:cNvPr>
          <p:cNvSpPr>
            <a:spLocks noGrp="1"/>
          </p:cNvSpPr>
          <p:nvPr/>
        </p:nvSpPr>
        <p:spPr>
          <a:xfrm>
            <a:off x="1066800" y="2571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APÊNDICE • GUIA VISUAL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48EFC9E-71BF-4D97-A3A4-35C7F4A9E847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6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Padrão visual do Radar Semanal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9085402-B286-4BED-B021-09C3922350A1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65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Um sistema simples para manter site, apresentações e posts reconhecíveis.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4AD3CBF-B116-4BC9-B206-0E7ADAAC2E06}"/>
              </a:ext>
            </a:extLst>
          </p:cNvPr>
          <p:cNvSpPr>
            <a:spLocks noGrp="1"/>
          </p:cNvSpPr>
          <p:nvPr/>
        </p:nvSpPr>
        <p:spPr>
          <a:xfrm>
            <a:off x="11144250" y="3429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10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1651884-A1F1-48DA-BD8C-339391756FA6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PALETA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C3E21C4-DA69-47A0-846C-B4AF3522D685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1066800" cy="552450"/>
          </a:xfrm>
          <a:prstGeom prst="roundRect">
            <a:avLst>
              <a:gd name="adj" fmla="val 24138"/>
            </a:avLst>
          </a:prstGeom>
          <a:solidFill>
            <a:srgbClr val="070A12"/>
          </a:solidFill>
          <a:ln w="9525">
            <a:solidFill>
              <a:srgbClr val="263550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D88B5F-3DFE-45C6-8382-A352A9FED82E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Fundo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DCA446B-53B0-4712-85D2-774C9DCB2FF5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#070A12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B1806D5-C862-4788-B792-9868C68C6DD4}"/>
              </a:ext>
            </a:extLst>
          </p:cNvPr>
          <p:cNvSpPr>
            <a:spLocks noGrp="1"/>
          </p:cNvSpPr>
          <p:nvPr/>
        </p:nvSpPr>
        <p:spPr>
          <a:xfrm>
            <a:off x="1943100" y="2438400"/>
            <a:ext cx="1066800" cy="552450"/>
          </a:xfrm>
          <a:prstGeom prst="roundRect">
            <a:avLst>
              <a:gd name="adj" fmla="val 24138"/>
            </a:avLst>
          </a:prstGeom>
          <a:solidFill>
            <a:srgbClr val="111A2D"/>
          </a:solidFill>
          <a:ln w="9525">
            <a:solidFill>
              <a:srgbClr val="263550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ED6CE06-8A52-4B24-BDA4-F282AE480FA6}"/>
              </a:ext>
            </a:extLst>
          </p:cNvPr>
          <p:cNvSpPr>
            <a:spLocks noGrp="1"/>
          </p:cNvSpPr>
          <p:nvPr/>
        </p:nvSpPr>
        <p:spPr>
          <a:xfrm>
            <a:off x="1943100" y="30765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Superfície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5E06754-FDD6-4830-BD44-0BB7195B0285}"/>
              </a:ext>
            </a:extLst>
          </p:cNvPr>
          <p:cNvSpPr>
            <a:spLocks noGrp="1"/>
          </p:cNvSpPr>
          <p:nvPr/>
        </p:nvSpPr>
        <p:spPr>
          <a:xfrm>
            <a:off x="1943100" y="3305175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#111A2D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91E10F2-6A89-41FB-8BAC-BAAF6463BFAA}"/>
              </a:ext>
            </a:extLst>
          </p:cNvPr>
          <p:cNvSpPr>
            <a:spLocks noGrp="1"/>
          </p:cNvSpPr>
          <p:nvPr/>
        </p:nvSpPr>
        <p:spPr>
          <a:xfrm>
            <a:off x="3200400" y="2438400"/>
            <a:ext cx="1066800" cy="552450"/>
          </a:xfrm>
          <a:prstGeom prst="roundRect">
            <a:avLst>
              <a:gd name="adj" fmla="val 24138"/>
            </a:avLst>
          </a:prstGeom>
          <a:solidFill>
            <a:srgbClr val="E3BE72"/>
          </a:solidFill>
          <a:ln w="9525">
            <a:solidFill>
              <a:srgbClr val="263550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A6B4556-4683-4120-9085-6626DE256A9E}"/>
              </a:ext>
            </a:extLst>
          </p:cNvPr>
          <p:cNvSpPr>
            <a:spLocks noGrp="1"/>
          </p:cNvSpPr>
          <p:nvPr/>
        </p:nvSpPr>
        <p:spPr>
          <a:xfrm>
            <a:off x="3200400" y="30765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Destaque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B7C901D-A33B-4228-B05E-ABEE7E3A4F15}"/>
              </a:ext>
            </a:extLst>
          </p:cNvPr>
          <p:cNvSpPr>
            <a:spLocks noGrp="1"/>
          </p:cNvSpPr>
          <p:nvPr/>
        </p:nvSpPr>
        <p:spPr>
          <a:xfrm>
            <a:off x="3200400" y="3305175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#E3BE72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C5FFF59-4045-45C3-96F1-74F85772E549}"/>
              </a:ext>
            </a:extLst>
          </p:cNvPr>
          <p:cNvSpPr>
            <a:spLocks noGrp="1"/>
          </p:cNvSpPr>
          <p:nvPr/>
        </p:nvSpPr>
        <p:spPr>
          <a:xfrm>
            <a:off x="4457700" y="2438400"/>
            <a:ext cx="1066800" cy="552450"/>
          </a:xfrm>
          <a:prstGeom prst="roundRect">
            <a:avLst>
              <a:gd name="adj" fmla="val 24138"/>
            </a:avLst>
          </a:prstGeom>
          <a:solidFill>
            <a:srgbClr val="54C7FF"/>
          </a:solidFill>
          <a:ln w="9525">
            <a:solidFill>
              <a:srgbClr val="263550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0DD7B1C-730D-49EB-B981-07486F086079}"/>
              </a:ext>
            </a:extLst>
          </p:cNvPr>
          <p:cNvSpPr>
            <a:spLocks noGrp="1"/>
          </p:cNvSpPr>
          <p:nvPr/>
        </p:nvSpPr>
        <p:spPr>
          <a:xfrm>
            <a:off x="4457700" y="30765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Ações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681E1C1-11ED-4E92-A2AA-EB138177A30A}"/>
              </a:ext>
            </a:extLst>
          </p:cNvPr>
          <p:cNvSpPr>
            <a:spLocks noGrp="1"/>
          </p:cNvSpPr>
          <p:nvPr/>
        </p:nvSpPr>
        <p:spPr>
          <a:xfrm>
            <a:off x="4457700" y="3305175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#54C7FF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158DE85-2D99-4699-B772-B6317F06A1EA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066800" cy="552450"/>
          </a:xfrm>
          <a:prstGeom prst="roundRect">
            <a:avLst>
              <a:gd name="adj" fmla="val 24138"/>
            </a:avLst>
          </a:prstGeom>
          <a:solidFill>
            <a:srgbClr val="A78BFA"/>
          </a:solidFill>
          <a:ln w="9525">
            <a:solidFill>
              <a:srgbClr val="263550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57C5C9A-1643-45B5-8E99-9F2F2067E4B3}"/>
              </a:ext>
            </a:extLst>
          </p:cNvPr>
          <p:cNvSpPr>
            <a:spLocks noGrp="1"/>
          </p:cNvSpPr>
          <p:nvPr/>
        </p:nvSpPr>
        <p:spPr>
          <a:xfrm>
            <a:off x="685800" y="41433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FIIs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2EC6BF9-0368-4A4A-97B5-8985B4AACEDA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#A78BFA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0D68CA07-0509-492E-BA40-C2659D9FBFE3}"/>
              </a:ext>
            </a:extLst>
          </p:cNvPr>
          <p:cNvSpPr>
            <a:spLocks noGrp="1"/>
          </p:cNvSpPr>
          <p:nvPr/>
        </p:nvSpPr>
        <p:spPr>
          <a:xfrm>
            <a:off x="1943100" y="3505200"/>
            <a:ext cx="1066800" cy="552450"/>
          </a:xfrm>
          <a:prstGeom prst="roundRect">
            <a:avLst>
              <a:gd name="adj" fmla="val 24138"/>
            </a:avLst>
          </a:prstGeom>
          <a:solidFill>
            <a:srgbClr val="34D399"/>
          </a:solidFill>
          <a:ln w="9525">
            <a:solidFill>
              <a:srgbClr val="263550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70A032F-F102-4867-9ECC-F7817AD72C5F}"/>
              </a:ext>
            </a:extLst>
          </p:cNvPr>
          <p:cNvSpPr>
            <a:spLocks noGrp="1"/>
          </p:cNvSpPr>
          <p:nvPr/>
        </p:nvSpPr>
        <p:spPr>
          <a:xfrm>
            <a:off x="1943100" y="41433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Positivo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6AC7443-1A13-43C6-8C11-35ADC4224D4C}"/>
              </a:ext>
            </a:extLst>
          </p:cNvPr>
          <p:cNvSpPr>
            <a:spLocks noGrp="1"/>
          </p:cNvSpPr>
          <p:nvPr/>
        </p:nvSpPr>
        <p:spPr>
          <a:xfrm>
            <a:off x="1943100" y="4371975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#34D399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8BC4F28-A45B-46DE-82AF-260DF674EB10}"/>
              </a:ext>
            </a:extLst>
          </p:cNvPr>
          <p:cNvSpPr>
            <a:spLocks noGrp="1"/>
          </p:cNvSpPr>
          <p:nvPr/>
        </p:nvSpPr>
        <p:spPr>
          <a:xfrm>
            <a:off x="3200400" y="3505200"/>
            <a:ext cx="1066800" cy="552450"/>
          </a:xfrm>
          <a:prstGeom prst="roundRect">
            <a:avLst>
              <a:gd name="adj" fmla="val 24138"/>
            </a:avLst>
          </a:prstGeom>
          <a:solidFill>
            <a:srgbClr val="FB7185"/>
          </a:solidFill>
          <a:ln w="9525">
            <a:solidFill>
              <a:srgbClr val="263550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9F53757-6E5A-4439-88F4-3F7F0404B957}"/>
              </a:ext>
            </a:extLst>
          </p:cNvPr>
          <p:cNvSpPr>
            <a:spLocks noGrp="1"/>
          </p:cNvSpPr>
          <p:nvPr/>
        </p:nvSpPr>
        <p:spPr>
          <a:xfrm>
            <a:off x="3200400" y="41433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Negativo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5C0EAD5-3663-4359-9A5A-07CEF10B863A}"/>
              </a:ext>
            </a:extLst>
          </p:cNvPr>
          <p:cNvSpPr>
            <a:spLocks noGrp="1"/>
          </p:cNvSpPr>
          <p:nvPr/>
        </p:nvSpPr>
        <p:spPr>
          <a:xfrm>
            <a:off x="3200400" y="4371975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#FB7185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440BE9F-7DB8-49E7-9AF0-4DEB510DAA85}"/>
              </a:ext>
            </a:extLst>
          </p:cNvPr>
          <p:cNvSpPr>
            <a:spLocks noGrp="1"/>
          </p:cNvSpPr>
          <p:nvPr/>
        </p:nvSpPr>
        <p:spPr>
          <a:xfrm>
            <a:off x="4457700" y="3505200"/>
            <a:ext cx="1066800" cy="552450"/>
          </a:xfrm>
          <a:prstGeom prst="roundRect">
            <a:avLst>
              <a:gd name="adj" fmla="val 24138"/>
            </a:avLst>
          </a:prstGeom>
          <a:solidFill>
            <a:srgbClr val="F5F7FB"/>
          </a:solidFill>
          <a:ln w="9525">
            <a:solidFill>
              <a:srgbClr val="263550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A6B672D-1497-4B86-9670-08AC4F84F50B}"/>
              </a:ext>
            </a:extLst>
          </p:cNvPr>
          <p:cNvSpPr>
            <a:spLocks noGrp="1"/>
          </p:cNvSpPr>
          <p:nvPr/>
        </p:nvSpPr>
        <p:spPr>
          <a:xfrm>
            <a:off x="4457700" y="41433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2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Texto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417144E0-0DCA-4A6B-8725-A46530EA98C6}"/>
              </a:ext>
            </a:extLst>
          </p:cNvPr>
          <p:cNvSpPr>
            <a:spLocks noGrp="1"/>
          </p:cNvSpPr>
          <p:nvPr/>
        </p:nvSpPr>
        <p:spPr>
          <a:xfrm>
            <a:off x="4457700" y="4371975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defRPr>
            </a:pPr>
            <a:r>
              <a:rPr sz="1050" b="0">
                <a:solidFill>
                  <a:srgbClr val="8392AA"/>
                </a:solidFill>
                <a:latin typeface="Proxima Nova"/>
                <a:ea typeface="Proxima Nova"/>
                <a:cs typeface="Proxima Nova"/>
              </a:rPr>
              <a:t>#F5F7FB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01DE9E8E-1757-409F-9C50-2B7D67360C2F}"/>
              </a:ext>
            </a:extLst>
          </p:cNvPr>
          <p:cNvSpPr>
            <a:spLocks noGrp="1"/>
          </p:cNvSpPr>
          <p:nvPr/>
        </p:nvSpPr>
        <p:spPr>
          <a:xfrm>
            <a:off x="6000750" y="2000250"/>
            <a:ext cx="9525" cy="3905250"/>
          </a:xfrm>
          <a:prstGeom prst="rect">
            <a:avLst/>
          </a:prstGeom>
          <a:solidFill>
            <a:srgbClr val="263550"/>
          </a:solidFill>
          <a:ln w="0">
            <a:noFill/>
            <a:prstDash val="solid"/>
          </a:ln>
        </p:spPr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10B01522-C1B5-419C-8006-2EC4A6AC4203}"/>
              </a:ext>
            </a:extLst>
          </p:cNvPr>
          <p:cNvSpPr>
            <a:spLocks noGrp="1"/>
          </p:cNvSpPr>
          <p:nvPr/>
        </p:nvSpPr>
        <p:spPr>
          <a:xfrm>
            <a:off x="6477000" y="20193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TIPOGRAFIA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2EEC206-A9C9-4195-87EF-C8C91420F068}"/>
              </a:ext>
            </a:extLst>
          </p:cNvPr>
          <p:cNvSpPr>
            <a:spLocks noGrp="1"/>
          </p:cNvSpPr>
          <p:nvPr/>
        </p:nvSpPr>
        <p:spPr>
          <a:xfrm>
            <a:off x="6477000" y="2419350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3000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Proxima Nova Bold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428BC024-7BBF-4FB7-94CC-BFC8EE585C96}"/>
              </a:ext>
            </a:extLst>
          </p:cNvPr>
          <p:cNvSpPr>
            <a:spLocks noGrp="1"/>
          </p:cNvSpPr>
          <p:nvPr/>
        </p:nvSpPr>
        <p:spPr>
          <a:xfrm>
            <a:off x="6477000" y="29908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725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Títulos diretos, uma ideia por slide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911A720D-E0C8-4131-9EBE-AC2081A41F3A}"/>
              </a:ext>
            </a:extLst>
          </p:cNvPr>
          <p:cNvSpPr>
            <a:spLocks noGrp="1"/>
          </p:cNvSpPr>
          <p:nvPr/>
        </p:nvSpPr>
        <p:spPr>
          <a:xfrm>
            <a:off x="6477000" y="35052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75" b="1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Proxima Nova Regular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10F1973D-94DD-42E8-A984-FD18DE14B798}"/>
              </a:ext>
            </a:extLst>
          </p:cNvPr>
          <p:cNvSpPr>
            <a:spLocks noGrp="1"/>
          </p:cNvSpPr>
          <p:nvPr/>
        </p:nvSpPr>
        <p:spPr>
          <a:xfrm>
            <a:off x="6477000" y="385762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9CA9BF"/>
                </a:solidFill>
                <a:latin typeface="Proxima Nova"/>
                <a:ea typeface="Proxima Nova"/>
                <a:cs typeface="Proxima Nova"/>
              </a:rPr>
              <a:t>Texto curto, concreto e sem jargão desnecessário.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19F5D9E8-CD2C-410D-97D3-0155D99A17B0}"/>
              </a:ext>
            </a:extLst>
          </p:cNvPr>
          <p:cNvSpPr>
            <a:spLocks noGrp="1"/>
          </p:cNvSpPr>
          <p:nvPr/>
        </p:nvSpPr>
        <p:spPr>
          <a:xfrm>
            <a:off x="6477000" y="45339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defRPr>
            </a:pPr>
            <a:r>
              <a:rPr sz="1275" b="1">
                <a:solidFill>
                  <a:srgbClr val="E3BE72"/>
                </a:solidFill>
                <a:latin typeface="Proxima Nova"/>
                <a:ea typeface="Proxima Nova"/>
                <a:cs typeface="Proxima Nova"/>
              </a:rPr>
              <a:t>COMPOSIÇÃO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94E6BFB7-33C2-41CF-B9C3-46AC05E1B34F}"/>
              </a:ext>
            </a:extLst>
          </p:cNvPr>
          <p:cNvSpPr>
            <a:spLocks noGrp="1"/>
          </p:cNvSpPr>
          <p:nvPr/>
        </p:nvSpPr>
        <p:spPr>
          <a:xfrm>
            <a:off x="6477000" y="4991100"/>
            <a:ext cx="85725" cy="85725"/>
          </a:xfrm>
          <a:prstGeom prst="ellipse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FB0DD108-36AC-429D-860B-6D74297D9222}"/>
              </a:ext>
            </a:extLst>
          </p:cNvPr>
          <p:cNvSpPr>
            <a:spLocks noGrp="1"/>
          </p:cNvSpPr>
          <p:nvPr/>
        </p:nvSpPr>
        <p:spPr>
          <a:xfrm>
            <a:off x="6686550" y="4914900"/>
            <a:ext cx="4648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16:9 • margens de 72 px • ritmo em múltiplos de 8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BABE4DB3-321E-4E01-9C18-236A653C8220}"/>
              </a:ext>
            </a:extLst>
          </p:cNvPr>
          <p:cNvSpPr>
            <a:spLocks noGrp="1"/>
          </p:cNvSpPr>
          <p:nvPr/>
        </p:nvSpPr>
        <p:spPr>
          <a:xfrm>
            <a:off x="6477000" y="5334000"/>
            <a:ext cx="85725" cy="85725"/>
          </a:xfrm>
          <a:prstGeom prst="ellipse">
            <a:avLst/>
          </a:prstGeom>
          <a:solidFill>
            <a:srgbClr val="E3BE72"/>
          </a:solidFill>
          <a:ln w="0">
            <a:noFill/>
            <a:prstDash val="solid"/>
          </a:ln>
        </p:spPr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0FD8CFF7-D986-46E4-B4FF-1F4561B21D0D}"/>
              </a:ext>
            </a:extLst>
          </p:cNvPr>
          <p:cNvSpPr>
            <a:spLocks noGrp="1"/>
          </p:cNvSpPr>
          <p:nvPr/>
        </p:nvSpPr>
        <p:spPr>
          <a:xfrm>
            <a:off x="6686550" y="5257800"/>
            <a:ext cx="4648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Cantos de 24 px • bordas discretas • fundo sempre escuro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4817C783-7245-4033-909D-D819BCA9AD33}"/>
              </a:ext>
            </a:extLst>
          </p:cNvPr>
          <p:cNvSpPr>
            <a:spLocks noGrp="1"/>
          </p:cNvSpPr>
          <p:nvPr/>
        </p:nvSpPr>
        <p:spPr>
          <a:xfrm>
            <a:off x="6477000" y="5676900"/>
            <a:ext cx="85725" cy="85725"/>
          </a:xfrm>
          <a:prstGeom prst="ellipse">
            <a:avLst/>
          </a:prstGeom>
          <a:solidFill>
            <a:srgbClr val="54C7FF"/>
          </a:solidFill>
          <a:ln w="0">
            <a:noFill/>
            <a:prstDash val="solid"/>
          </a:ln>
        </p:spPr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C751A035-4C90-489B-984B-1D83B3903AF5}"/>
              </a:ext>
            </a:extLst>
          </p:cNvPr>
          <p:cNvSpPr>
            <a:spLocks noGrp="1"/>
          </p:cNvSpPr>
          <p:nvPr/>
        </p:nvSpPr>
        <p:spPr>
          <a:xfrm>
            <a:off x="6686550" y="5600700"/>
            <a:ext cx="4648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Dourado = ênfase; ciano = ações; roxo = FIIs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71F66F45-4331-46B9-8488-0E13A3D9678C}"/>
              </a:ext>
            </a:extLst>
          </p:cNvPr>
          <p:cNvSpPr>
            <a:spLocks noGrp="1"/>
          </p:cNvSpPr>
          <p:nvPr/>
        </p:nvSpPr>
        <p:spPr>
          <a:xfrm>
            <a:off x="6477000" y="6019800"/>
            <a:ext cx="85725" cy="85725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B1684EB7-1173-4304-A9BB-1897F74730B8}"/>
              </a:ext>
            </a:extLst>
          </p:cNvPr>
          <p:cNvSpPr>
            <a:spLocks noGrp="1"/>
          </p:cNvSpPr>
          <p:nvPr/>
        </p:nvSpPr>
        <p:spPr>
          <a:xfrm>
            <a:off x="6686550" y="5943600"/>
            <a:ext cx="4648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defRPr>
            </a:pPr>
            <a:r>
              <a:rPr sz="1500" b="0">
                <a:solidFill>
                  <a:srgbClr val="F5F7FB"/>
                </a:solidFill>
                <a:latin typeface="Proxima Nova"/>
                <a:ea typeface="Proxima Nova"/>
                <a:cs typeface="Proxima Nova"/>
              </a:rPr>
              <a:t>Verde e vermelho só para estados positivos e negativos</a:t>
            </a:r>
          </a:p>
        </p:txBody>
      </p:sp>
    </p:spTree>
    <p:extLst>
      <p:ext uri="{BB962C8B-B14F-4D97-AF65-F5344CB8AC3E}">
        <p14:creationId xmlns:p14="http://schemas.microsoft.com/office/powerpoint/2010/main" val="2187542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Radar Semanal — Proxima Nova">
      <a:majorFont>
        <a:latin typeface="Proxima Nova"/>
        <a:ea typeface="Proxima Nova"/>
        <a:cs typeface="Proxima Nova"/>
      </a:majorFont>
      <a:minorFont>
        <a:latin typeface="Proxima Nova"/>
        <a:ea typeface="Proxima Nova"/>
        <a:cs typeface="Proxima Nova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Radar Semanal — Proxima Nova">
      <a:majorFont>
        <a:latin typeface="Proxima Nova"/>
        <a:ea typeface="Proxima Nova"/>
        <a:cs typeface="Proxima Nova"/>
      </a:majorFont>
      <a:minorFont>
        <a:latin typeface="Proxima Nova"/>
        <a:ea typeface="Proxima Nova"/>
        <a:cs typeface="Proxima Nova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1561</Words>
  <Application>Microsoft Office PowerPoint</Application>
  <DocSecurity>0</DocSecurity>
  <PresentationFormat>Widescreen</PresentationFormat>
  <Paragraphs>246</Paragraphs>
  <Slides>10</Slides>
  <Notes>10</Notes>
  <HiddenSlides>1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Proxima Nova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Ítalo Statonato</cp:lastModifiedBy>
  <cp:revision>1</cp:revision>
  <dcterms:created xsi:type="dcterms:W3CDTF">2026-09-03T13:28:05Z</dcterms:created>
  <dcterms:modified xsi:type="dcterms:W3CDTF">2026-09-03T13:30:56Z</dcterms:modified>
</cp:coreProperties>
</file>