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4534879fc84387" /><Relationship Type="http://schemas.openxmlformats.org/officeDocument/2006/relationships/extended-properties" Target="/docProps/app.xml" Id="R379d51e958a9448a" /><Relationship Type="http://schemas.openxmlformats.org/officeDocument/2006/relationships/officeDocument" Target="/ppt/presentation.xml" Id="R20e2e007fdcf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b6e63a4abb4734"/>
  </p:sldMasterIdLst>
  <p:notesMasterIdLst>
    <p:notesMasterId xmlns:r="http://schemas.openxmlformats.org/officeDocument/2006/relationships" r:id="R3d9612e4caa34f68"/>
  </p:notesMasterIdLst>
  <p:sldIdLst>
    <p:sldId xmlns:r="http://schemas.openxmlformats.org/officeDocument/2006/relationships" id="256" r:id="R9030aca76fe049d7"/>
    <p:sldId xmlns:r="http://schemas.openxmlformats.org/officeDocument/2006/relationships" id="257" r:id="R7dd0c7057ad4434a"/>
    <p:sldId xmlns:r="http://schemas.openxmlformats.org/officeDocument/2006/relationships" id="258" r:id="R5235f08b623a45a8"/>
    <p:sldId xmlns:r="http://schemas.openxmlformats.org/officeDocument/2006/relationships" id="259" r:id="Rfaeb9f80657444ec"/>
    <p:sldId xmlns:r="http://schemas.openxmlformats.org/officeDocument/2006/relationships" id="260" r:id="R150bfd2a3104498b"/>
    <p:sldId xmlns:r="http://schemas.openxmlformats.org/officeDocument/2006/relationships" id="261" r:id="Rc1b019ed2fad4f7b"/>
    <p:sldId xmlns:r="http://schemas.openxmlformats.org/officeDocument/2006/relationships" id="262" r:id="Raea62d19da204280"/>
    <p:sldId xmlns:r="http://schemas.openxmlformats.org/officeDocument/2006/relationships" id="263" r:id="R324f767f0a7f4b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59d20f117f40fe" /><Relationship Type="http://schemas.openxmlformats.org/officeDocument/2006/relationships/slideMaster" Target="/ppt/slideMasters/slideMaster1.xml" Id="R54b6e63a4abb4734" /><Relationship Type="http://schemas.openxmlformats.org/officeDocument/2006/relationships/notesMaster" Target="/ppt/notesMasters/notesMaster1.xml" Id="R3d9612e4caa34f68" /><Relationship Type="http://schemas.openxmlformats.org/officeDocument/2006/relationships/presProps" Target="/ppt/presProps.xml" Id="Rf93565335927478d" /><Relationship Type="http://schemas.openxmlformats.org/officeDocument/2006/relationships/tableStyles" Target="/ppt/tableStyles.xml" Id="Rd2e67641d61b4ca1" /><Relationship Type="http://schemas.openxmlformats.org/officeDocument/2006/relationships/slide" Target="/ppt/slides/slide1.xml" Id="R9030aca76fe049d7" /><Relationship Type="http://schemas.openxmlformats.org/officeDocument/2006/relationships/slide" Target="/ppt/slides/slide2.xml" Id="R7dd0c7057ad4434a" /><Relationship Type="http://schemas.openxmlformats.org/officeDocument/2006/relationships/slide" Target="/ppt/slides/slide3.xml" Id="R5235f08b623a45a8" /><Relationship Type="http://schemas.openxmlformats.org/officeDocument/2006/relationships/slide" Target="/ppt/slides/slide4.xml" Id="Rfaeb9f80657444ec" /><Relationship Type="http://schemas.openxmlformats.org/officeDocument/2006/relationships/slide" Target="/ppt/slides/slide5.xml" Id="R150bfd2a3104498b" /><Relationship Type="http://schemas.openxmlformats.org/officeDocument/2006/relationships/slide" Target="/ppt/slides/slide6.xml" Id="Rc1b019ed2fad4f7b" /><Relationship Type="http://schemas.openxmlformats.org/officeDocument/2006/relationships/slide" Target="/ppt/slides/slide7.xml" Id="Raea62d19da204280" /><Relationship Type="http://schemas.openxmlformats.org/officeDocument/2006/relationships/slide" Target="/ppt/slides/slide8.xml" Id="R324f767f0a7f4b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039d2e75f143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dar Semanal — Roboto">
      <a:majorFont>
        <a:latin typeface="Roboto"/>
        <a:ea typeface="Roboto"/>
        <a:cs typeface="Roboto"/>
      </a:majorFont>
      <a:minorFont>
        <a:latin typeface="Roboto"/>
        <a:ea typeface="Roboto"/>
        <a:cs typeface="Roboto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78fbd31a17454b" /><Relationship Type="http://schemas.openxmlformats.org/officeDocument/2006/relationships/notesMaster" Target="/ppt/notesMasters/notesMaster1.xml" Id="R5275929fcf584e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2fbd0ae59c4d8c" /><Relationship Type="http://schemas.openxmlformats.org/officeDocument/2006/relationships/notesMaster" Target="/ppt/notesMasters/notesMaster1.xml" Id="Ra666fba3c94843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543769cf946f3" /><Relationship Type="http://schemas.openxmlformats.org/officeDocument/2006/relationships/notesMaster" Target="/ppt/notesMasters/notesMaster1.xml" Id="R2be79ac40dd442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b92cd6f22a48b1" /><Relationship Type="http://schemas.openxmlformats.org/officeDocument/2006/relationships/notesMaster" Target="/ppt/notesMasters/notesMaster1.xml" Id="Raf5029c66f6443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ec0a14780142e6" /><Relationship Type="http://schemas.openxmlformats.org/officeDocument/2006/relationships/notesMaster" Target="/ppt/notesMasters/notesMaster1.xml" Id="R1f8045bfd0cb47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20a8c837c74013" /><Relationship Type="http://schemas.openxmlformats.org/officeDocument/2006/relationships/notesMaster" Target="/ppt/notesMasters/notesMaster1.xml" Id="Rdb7e52f608a849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87840ad1554e4c" /><Relationship Type="http://schemas.openxmlformats.org/officeDocument/2006/relationships/notesMaster" Target="/ppt/notesMasters/notesMaster1.xml" Id="R063be5f5ff124f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937bb8b3404066" /><Relationship Type="http://schemas.openxmlformats.org/officeDocument/2006/relationships/notesMaster" Target="/ppt/notesMasters/notesMaster1.xml" Id="Rae4586f0c43d46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Radar como uma leitura quantitativa acessível. Reforce que o objetivo é organizar informação, não emitir recomendação.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descrição do projeto e aviso educacional.</a:t>
            </a:r>
          </a:p>
          <a:p xmlns:a="http://schemas.openxmlformats.org/drawingml/2006/main">
            <a:r>
              <a:t>- docs/index.html — identidade visual e linguagem da interface.</a:t>
            </a:r>
          </a:p>
          <a:p xmlns:a="http://schemas.openxmlformats.org/drawingml/2006/main">
            <a:r>
              <a:t>- .presentation_build/assets/site-home.png — captura local do dashboard.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número 1.505 é a soma do universo coletado no snapshot mais recente do repositório: 549 FIIs e 956 ações. O resultado público contém 20 de cada classe.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docs/data/2026-09-02.json — kpis.total_fiis_universo, kpis.total_acoes_universo e rankings fiis/acoes.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fluxo sem entrar em bibliotecas ou nomes de arquivos. O benefício é repetibilidade: o mesmo processo é aplicado a todo o universo.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main.py — sequência de coleta, limpeza, score, seleção, persistência, modelos, exportação e qualidade.</a:t>
            </a:r>
          </a:p>
          <a:p xmlns:a="http://schemas.openxmlformats.org/drawingml/2006/main">
            <a:r>
              <a:t>- README.md — pipeline semanal e automação via GitHub Actions.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score é percentílico: compara cada ativo ao restante do universo do dia. Dados ausentes recebem uma nota neutra. Os critérios mínimos definem elegibilidade; a ordenação final usa os sete indicadores com peso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src/scorer.py — FII_WEIGHTS, ACOES_WEIGHTS e cálculo percentílico 0–100.</a:t>
            </a:r>
          </a:p>
          <a:p xmlns:a="http://schemas.openxmlformats.org/drawingml/2006/main">
            <a:r>
              <a:t>- src/filters.py — filtros mínimos de elegibilidade antes da ordenação.</a:t>
            </a:r>
          </a:p>
          <a:p xmlns:a="http://schemas.openxmlformats.org/drawingml/2006/main">
            <a:r>
              <a:t>- config.yaml — valores dos pisos de elegibilidade.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dashboard é o ponto de contato com o público: ranking, indicadores, recorrência, carteira híbrida, backtests e modelos ficam no mesmo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docs/index.html — interface e seções do dashboard.</a:t>
            </a:r>
          </a:p>
          <a:p xmlns:a="http://schemas.openxmlformats.org/drawingml/2006/main">
            <a:r>
              <a:t>- .presentation_build/assets/site-home.png — captura local do dashboard em 02/09/2026.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aqui não é prometer acerto: é tornar o processo verificável. A base incremental protege o histórico; o backtest explicita premissas; o ML permanece experimental; e a automação só publica após testes e healthcheck.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 — camadas e data lake incremental.</a:t>
            </a:r>
          </a:p>
          <a:p xmlns:a="http://schemas.openxmlformats.org/drawingml/2006/main">
            <a:r>
              <a:t>- docs/BACKTEST_RETROATIVO.md — metodologia, cobertura e separação entre observado e simulado point-in-time.</a:t>
            </a:r>
          </a:p>
          <a:p xmlns:a="http://schemas.openxmlformats.org/drawingml/2006/main">
            <a:r>
              <a:t>- docs/ML_PIPELINE.md — ML em modo sombra.</a:t>
            </a:r>
          </a:p>
          <a:p xmlns:a="http://schemas.openxmlformats.org/drawingml/2006/main">
            <a:r>
              <a:t>- .github/workflows/run_screener.yml e tests/*.py — testes e healthcheck antes da publicação.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uma orientação prática: descobrir, comparar e aprofundar. Reforce o caráter educacional e convide a audiência a explorar 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finalidade educacional e URL pública do dashboard.</a:t>
            </a:r>
          </a:p>
          <a:p xmlns:a="http://schemas.openxmlformats.org/drawingml/2006/main">
            <a:r>
              <a:t>- docs/assets/italo-profile.png — foto do criador.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como referência de marca. Para peças públicas, mantenha uma ideia principal, fundo escuro, alto contraste e as cores semânticas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docs/index.html — variáveis CSS, Roboto, raio de 24 px e semântica de cores.</a:t>
            </a:r>
          </a:p>
          <a:p xmlns:a="http://schemas.openxmlformats.org/drawingml/2006/main">
            <a:r>
              <a:t>- Inspeção visual do dashboard local renderizado em 02/09/2026.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6611ba76a4f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31589c22024826" /><Relationship Type="http://schemas.openxmlformats.org/officeDocument/2006/relationships/slideLayout" Target="/ppt/slideLayouts/slideLayout1.xml" Id="R24690bdbaa8e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90bdbaa8e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dar Semanal — Roboto">
      <a:majorFont>
        <a:latin typeface="Roboto"/>
        <a:ea typeface="Roboto"/>
        <a:cs typeface="Roboto"/>
      </a:majorFont>
      <a:minorFont>
        <a:latin typeface="Roboto"/>
        <a:ea typeface="Roboto"/>
        <a:cs typeface="Roboto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c4e2bd9cb4064" /><Relationship Type="http://schemas.openxmlformats.org/officeDocument/2006/relationships/image" Target="/ppt/media/image.jpeg" Id="R1baf750973f24c90" /><Relationship Type="http://schemas.openxmlformats.org/officeDocument/2006/relationships/notesSlide" Target="/ppt/notesSlides/notesSlide1.xml" Id="R60799e718f2a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1cc2782ed4310" /><Relationship Type="http://schemas.openxmlformats.org/officeDocument/2006/relationships/notesSlide" Target="/ppt/notesSlides/notesSlide2.xml" Id="R15f9e6a2f465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a71e162dd4532" /><Relationship Type="http://schemas.openxmlformats.org/officeDocument/2006/relationships/notesSlide" Target="/ppt/notesSlides/notesSlide3.xml" Id="R8146b73110b547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09c8a460a4dd5" /><Relationship Type="http://schemas.openxmlformats.org/officeDocument/2006/relationships/notesSlide" Target="/ppt/notesSlides/notesSlide4.xml" Id="Ra401a25be7c04e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6afa384c8433a" /><Relationship Type="http://schemas.openxmlformats.org/officeDocument/2006/relationships/image" Target="/ppt/media/image2.jpeg" Id="Rc8f89ec146b04309" /><Relationship Type="http://schemas.openxmlformats.org/officeDocument/2006/relationships/notesSlide" Target="/ppt/notesSlides/notesSlide5.xml" Id="R76aab396eb5044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480baf1e84c60" /><Relationship Type="http://schemas.openxmlformats.org/officeDocument/2006/relationships/notesSlide" Target="/ppt/notesSlides/notesSlide6.xml" Id="Rd6ee46caa9c649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a29b1a3bf4e9e" /><Relationship Type="http://schemas.openxmlformats.org/officeDocument/2006/relationships/image" Target="/ppt/media/image.png" Id="R5224c8d7a9974477" /><Relationship Type="http://schemas.openxmlformats.org/officeDocument/2006/relationships/hyperlink" Target="https://italostatonato.github.io/stock-screener-automation/" TargetMode="External" Id="R6c0eeb22358042ea" /><Relationship Type="http://schemas.openxmlformats.org/officeDocument/2006/relationships/notesSlide" Target="/ppt/notesSlides/notesSlide7.xml" Id="Rb1393431bdb84b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b0d9418814cb1" /><Relationship Type="http://schemas.openxmlformats.org/officeDocument/2006/relationships/notesSlide" Target="/ppt/notesSlides/notesSlide8.xml" Id="Reb17b0abb7bb41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4418E-B8E0-4452-9EFA-4E4269CC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1F537-AC88-4F1E-8D42-502D0CDF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97087-D8BB-444D-AB0E-5D90E5E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BOLETIM QUANTITATIVO • BRASIL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5993274-19C9-4A20-AF49-B8DC6764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7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57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Radar</a:t>
            </a:r>
            <a:r>
              <a:rPr sz="57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 Semanal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5859B-F346-49A6-B5BA-C4EBE5A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21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Dados públicos transformados em uma leitura simples de ações e FIIs.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AD570-B231-4399-9C1C-DB7ABFA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14950" cy="37528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f750973f24c90"/>
          <a:stretch xmlns:a="http://schemas.openxmlformats.org/drawingml/2006/main"/>
        </p:blipFill>
        <p:spPr>
          <a:xfrm xmlns:a="http://schemas.openxmlformats.org/drawingml/2006/main">
            <a:off x="6381750" y="1592798"/>
            <a:ext cx="4933950" cy="2777053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6D8DE-62D9-42F7-A491-C034449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D3DAE-CFC2-4454-B439-C2587E58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Ítalo Petricioni Statonato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85751-B193-4AE6-9906-5314BFE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Projeto educacional e analítico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1F19B-83BA-4E87-8459-930E0E77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34050"/>
            <a:ext cx="2362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75860-0AD0-4C3C-9129-54DD4D87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34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Ações + FIIs brasileiros</a:t>
            </a:r>
          </a:p>
        </p:txBody>
      </p:sp>
    </p:spTree>
    <p:extLst>
      <p:ext uri="{BB962C8B-B14F-4D97-AF65-F5344CB8AC3E}">
        <p14:creationId xmlns:p14="http://schemas.microsoft.com/office/powerpoint/2010/main" val="1517571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88841-74D1-4876-914A-0EACF871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ADE4C-1020-4B23-933F-3080775A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POR QUE EXISTE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39AE0-2BC9-46C0-A328-2FEF6429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Radar transforma 1.505 ativos em uma lista curta para estudar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9E8AA-F255-4CD6-BA67-25FF0910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Menos tempo procurando. Mais clareza para comparar.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5909-4AB0-4355-86B6-95970F7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9136C-3B42-4C6E-915F-6AB3802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A78BFA"/>
                </a:solidFill>
                <a:latin typeface="Roboto"/>
                <a:ea typeface="Roboto"/>
                <a:cs typeface="Roboto"/>
              </a:defRPr>
            </a:pPr>
            <a:r>
              <a:rPr sz="5400" b="1">
                <a:solidFill>
                  <a:srgbClr val="A78BFA"/>
                </a:solidFill>
                <a:latin typeface="Roboto"/>
                <a:ea typeface="Roboto"/>
                <a:cs typeface="Roboto"/>
              </a:rPr>
              <a:t>549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63037-73B2-40EC-AB36-B8A4976A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FIIs no universo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B38F-8DF7-49E2-BB4E-4098FDD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fundos imobiliários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3B9CC-C937-4DA0-AA53-7DA1388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33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561FE-192F-4DB1-BE51-A736F687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669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54C7FF"/>
                </a:solidFill>
                <a:latin typeface="Roboto"/>
                <a:ea typeface="Roboto"/>
                <a:cs typeface="Roboto"/>
              </a:defRPr>
            </a:pPr>
            <a:r>
              <a:rPr sz="5400" b="1">
                <a:solidFill>
                  <a:srgbClr val="54C7FF"/>
                </a:solidFill>
                <a:latin typeface="Roboto"/>
                <a:ea typeface="Roboto"/>
                <a:cs typeface="Roboto"/>
              </a:rPr>
              <a:t>956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4A75F-B67A-43BE-9AA4-E4C3569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ações no universo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E5D8F-A177-438C-985F-CAF11E0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76625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empresas brasileiras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0D147-6149-4CFF-9F29-E5C12DA3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36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13429-E45D-44A3-9E37-682D467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6576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54CA8-C63C-42AC-A8F8-06816738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15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615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19AB3-CD0E-4892-95FE-5242301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ativos em destaque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D4348-0769-4626-97A0-70DE0E3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B6516-821A-438C-8ED9-326902E1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A78BFA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A78BFA"/>
                </a:solidFill>
                <a:latin typeface="Roboto"/>
                <a:ea typeface="Roboto"/>
                <a:cs typeface="Roboto"/>
              </a:rPr>
              <a:t>20 FIIs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AF3F0-6883-430C-8E05-449657E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623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9CA9BF"/>
                </a:solidFill>
                <a:latin typeface="Roboto"/>
                <a:ea typeface="Roboto"/>
                <a:cs typeface="Roboto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1BFC9-E060-4AE1-A854-326C731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62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54C7FF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54C7FF"/>
                </a:solidFill>
                <a:latin typeface="Roboto"/>
                <a:ea typeface="Roboto"/>
                <a:cs typeface="Roboto"/>
              </a:rPr>
              <a:t>20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EBF0F-EA99-4EB4-9AE1-B04015CE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9F8FC-6DCA-4BDD-A238-FD4E2CBA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ranking não elimina a análise: ele organiza a fila do que merece atenção primeiro.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0CFF5-F6BA-4A10-B56C-67A76917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Universo e rankings do snapshot de 02/09/2026.</a:t>
            </a:r>
          </a:p>
        </p:txBody>
      </p:sp>
    </p:spTree>
    <p:extLst>
      <p:ext uri="{BB962C8B-B14F-4D97-AF65-F5344CB8AC3E}">
        <p14:creationId xmlns:p14="http://schemas.microsoft.com/office/powerpoint/2010/main" val="592121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E2EC3-9A27-4F07-BC2B-C2B0118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3A514-EF12-4B01-A455-C48ED58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COMO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B5108-FC13-4110-BE95-2CE0D03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processo cabe em quatro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75387-2A48-4FF5-A500-0DD641FA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Uma rotina simples de explicar — e automática de repetir.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15225-E2D4-4D61-A80D-B823928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D683F-9DBA-456A-A89E-44DDAC5B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96304-EE3E-41FD-BD13-E976A098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42518-8048-45AF-9C4C-44D1CAA2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65257-F96C-40CF-9735-2688E7F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Coletar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D225B-7A2B-4E98-A9B8-498FADF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14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Dados públicos de FIIs, ações e mercado.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DF799-F0DD-497A-BCF5-30E3C1AA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2549C-F7A4-4C96-914B-18E0D40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6A735-CCDD-49B0-A0E2-BBBD032C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4FFEC-5C88-4BC1-B69B-2FB3586A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Padronizar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0E2C1-4EAA-4C31-8C9D-FA933E4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Percentuais, preços e indicadores ficam comparáveis.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9F82B-9194-4225-A0B2-3EC6357C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AF473-EC36-4E90-BB06-435EF7A4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419CB-4AF9-46F8-832A-D5D36A6E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EE1C4-0939-4613-A6A2-BC99C070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Pontuar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B79F4-3620-4439-9E30-139245ED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214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Cada ativo recebe uma nota entre 0 e 100.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C822D-9DC7-4E36-838A-7CEC1F55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9BB03-238D-4505-B4A2-6D3926F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4B2A6-EC6B-492F-8764-8A53AF4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76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92E81-F577-41E2-99D2-63D59A1F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Publicar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E60F3-3A57-455C-BE0A-4218CDF5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0040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Ranking, histórico e contexto chegam ao painel.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59037B-8F56-4D46-A653-1C1655A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AFC6A-9CB5-4C16-BA2A-639D469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Toda semana, o mesmo método percorre o universo inteiro — sem escolher manualmente os favoritos.</a:t>
            </a:r>
          </a:p>
        </p:txBody>
      </p:sp>
    </p:spTree>
    <p:extLst>
      <p:ext uri="{BB962C8B-B14F-4D97-AF65-F5344CB8AC3E}">
        <p14:creationId xmlns:p14="http://schemas.microsoft.com/office/powerpoint/2010/main" val="1613415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0AC2E1-D756-4D89-A977-414D13E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7B983-ABFC-4A59-ADCC-4EAB1C1D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A NOTA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4636E-4BD8-4241-A30F-587A3F5C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Cada ativo é comparado com seus pares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EF0BD-5583-4EB4-90BD-0173381E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Sete critérios, mesmo peso: cada um responde por 1/7 do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4ED17-84F3-4BFB-AB12-C19FEA1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8BDE8-CCA9-4AD8-B749-31CAEF4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A78BFA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A78BFA"/>
                </a:solidFill>
                <a:latin typeface="Roboto"/>
                <a:ea typeface="Roboto"/>
                <a:cs typeface="Roboto"/>
              </a:rPr>
              <a:t>FIIs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59A7B-333A-4718-884D-9EFE0C44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62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54C7FF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54C7FF"/>
                </a:solidFill>
                <a:latin typeface="Roboto"/>
                <a:ea typeface="Roboto"/>
                <a:cs typeface="Roboto"/>
              </a:rPr>
              <a:t>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1CBBA-C28F-4BC7-B629-754070C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A27BF-8160-4EB6-9762-5DBE0EC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Renda: DY médio em 12 meses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5A6E0-84F1-4A78-A4C0-F3438CA3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8C518-8070-4CC4-8731-190B49E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Preço: P/VP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EE7C6-FF2E-46BA-B81C-A433FBA6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4B238-F226-4F9A-8F02-E120109D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Liquidez diária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5106A-F7E5-43F8-9F5D-2EA6BC1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19C6C-3E4F-411F-BE86-BFED25A9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Tamanho: patrimônio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7940F-D60C-4F5E-A6D3-AA990FCB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4694C-96C6-4128-9E34-605193C5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Desempenho no período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C7C67-C6DE-41E7-ABF4-2C74EFF3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B15DF-187E-4933-8F93-AE9DC7B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Taxa de administração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1B9A9-9108-4D55-9C5C-90D0EE7E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5C26C-AD0B-4A38-A0F3-185223A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3790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Taxa de performance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CA5C7-AF49-404D-BF81-E7EF4027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CF66A-6102-47CE-9E52-52AE40D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Renda: dividend yield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B7C13-055F-4F63-BC79-FFEFABC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F4BCF-B2CA-4B3E-87C3-0C03FECA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Preço: P/VPA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CD095B-8FF3-4252-8ABB-7477C23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F5FE7-5CA4-4D4F-947A-4CB7EB3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Preço operacional: EV/EBITDA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C7A0A-941C-4223-921E-A07EC0C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C4DB0-EF95-423E-8F73-54E2519F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Margem líquida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AD5AF-5119-4638-BDE5-9B63374F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ABBC77-A942-42A7-B352-50C70CB4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Retorno sobre capital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3ED6E4-D020-49E4-BF65-AAAA4326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7E0386-0F86-402F-BAF9-D0CC0021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Retorno sobre patrimônio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A9BC9C-9387-464E-B736-68896E8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48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AC6B3B-5953-475C-A5ED-4BCA3636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Liquidez de negociação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4C668F-5C3C-4877-A6A3-9218CBF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6BD21-68E8-4909-B33F-8168AB1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4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0–100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E7F4AB-E6DB-4951-9850-5E67324D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95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9CA9BF"/>
                </a:solidFill>
                <a:latin typeface="Roboto"/>
                <a:ea typeface="Roboto"/>
                <a:cs typeface="Roboto"/>
              </a:rPr>
              <a:t>posição relativa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423C85-453D-4CC9-918F-C6CE30EE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29250"/>
            <a:ext cx="37338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44003E-3670-4448-9B90-0094A99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53075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1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Preço e taxas: menor tende a pontuar melhor.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Nos demais critérios: maior tende a pontuar melhor.</a:t>
            </a:r>
          </a:p>
        </p:txBody>
      </p:sp>
    </p:spTree>
    <p:extLst>
      <p:ext uri="{BB962C8B-B14F-4D97-AF65-F5344CB8AC3E}">
        <p14:creationId xmlns:p14="http://schemas.microsoft.com/office/powerpoint/2010/main" val="1985044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00EBE-8F36-4409-B399-D0B0A57C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C535C-64EE-4C69-B4D2-DC31103E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3908A-4269-406E-9F40-13EEFF0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painel transforma o ranking em 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DA01A-145B-47FD-9ED6-08C7038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A pessoa pode explorar o resultado sem abrir planilhas ou código.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57171-04EA-40FD-BFEE-B9327CFF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7F8A4-70EA-430F-B726-5DECDC0C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3781425"/>
          </a:xfrm>
          <a:prstGeom xmlns:a="http://schemas.openxmlformats.org/drawingml/2006/main" prst="roundRect">
            <a:avLst>
              <a:gd name="adj" fmla="val 6045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89ec146b04309"/>
          <a:srcRect xmlns:a="http://schemas.openxmlformats.org/drawingml/2006/main" l="0" t="20630" r="0" b="20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076450"/>
            <a:ext cx="10515600" cy="3476625"/>
          </a:xfrm>
          <a:prstGeom xmlns:a="http://schemas.openxmlformats.org/drawingml/2006/main" prst="roundRect">
            <a:avLst>
              <a:gd name="adj" fmla="val 49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A9C23-ABCA-4A71-B885-44AFAFA3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FB98-95FB-487E-B5AE-BA21A05C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721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BB5C0-3189-4E13-AE2C-498AFE2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6991C-4CCB-4402-8849-735A0C6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721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contexto de mercado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4AA2C-742C-4404-82ED-F4256B75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3BFCF-2572-43F0-982B-31BB596F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72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histórico e recorrência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789D1-2E3F-45A7-BA80-7DF0398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67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2CE28-E920-4E26-9B60-855D092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72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modelos em observação</a:t>
            </a:r>
          </a:p>
        </p:txBody>
      </p:sp>
    </p:spTree>
    <p:extLst>
      <p:ext uri="{BB962C8B-B14F-4D97-AF65-F5344CB8AC3E}">
        <p14:creationId xmlns:p14="http://schemas.microsoft.com/office/powerpoint/2010/main" val="1010995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8152B-FC52-48BD-AD0A-AF5EB569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DED06-9716-4997-9410-B435E530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POR QUE CONFIAR NO PROCESSO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03DB7-94DD-4462-B9E2-DBCF88B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Transparência vem antes de previsão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1BD1-8237-4EA4-B25B-C7B94502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O projeto registra o que fez, com quais dados e sob quais limitações.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76F18-D4B9-4D71-90F5-6E75E06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42212-3D0D-43DF-BC98-BD5D1EC4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85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6A9FA-D3E3-4125-8217-A7BB3702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7631F-D2C6-4AB3-80D6-855981E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72CD7-F000-4FA0-B58D-1B88CA86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Fontes públicas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DE832-1C98-480E-BA26-DE6CAD8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97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A origem dos dados fica explícita e pode ser conferida.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A9C7A-CF6E-40E9-B663-D9D5D4F9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C5C87-77A7-4654-A025-9C864F28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67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93024-5498-4408-B78B-C23094F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Histórico preservado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C433F-66EE-4187-8415-F946742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622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Snapshots incrementais permitem reconstruir os derivados.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9B2E7-3A24-4524-AA96-08F63DF2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19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F6171-CAFF-470F-8D91-0DA3F6BC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19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5D1DB-DD7E-4DA2-BD63-43A3E47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Backtest auditável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BE257-EDDC-4F6D-B085-4321BFE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147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Entrada, custos, cobertura e dados ausentes são registrados.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A0F53-0828-4569-8A24-16E852C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72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E7EE3-B341-4B13-A80F-F9075AB2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72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D6D08-6E98-4018-A6B4-FAB8D1B6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ML em modo sombra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F7FB3-898A-47AD-A0A3-6971EF50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672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Modelos aprendem e são avaliados sem trocar o ranking oficial.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95305-995D-44AE-BFB9-A98FA97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9658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0182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92AB6-8D32-4D6B-9AA2-539E5C10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483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Testes automatizados + healthcheck de dados antes da publicação</a:t>
            </a:r>
          </a:p>
        </p:txBody>
      </p:sp>
    </p:spTree>
    <p:extLst>
      <p:ext uri="{BB962C8B-B14F-4D97-AF65-F5344CB8AC3E}">
        <p14:creationId xmlns:p14="http://schemas.microsoft.com/office/powerpoint/2010/main" val="1868865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AE4E8-1764-4348-B108-40589BA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7BB1D-0C28-4436-B93B-2EA29C9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COMO USAR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F7B1B-EDFF-459B-92A9-FD89B7D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Use o Radar para fazer perguntas melhores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28ED6-B303-4401-BB70-61F1DE31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Ele organiza o ponto de partida; a decisão continua sendo sua.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DF6BA-4E0C-4879-8948-2551D1BF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DAAEE-818D-44C7-B5FE-7627ADC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94CE7-8CA7-4E17-A5BD-1B7FD4A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7FCC9-40E5-4D55-8A75-79B947A2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Descubra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C587B-391E-4774-851C-68299C92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Encontre ativos que merecem uma primeira análise.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4DD80-755A-449E-9C39-9499113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7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28D1E-66F1-4BA3-850E-3EB4D8E3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86BFB-3EB8-4CA4-9015-831CB784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BCDFE-5685-4DCC-A9C4-8826408A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4D403-012A-4364-A204-2271A8F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Entenda quais indicadores ajudaram no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36479-0A83-41C8-A1A8-3D2F38D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27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D088D-C1EC-45D1-9DE4-664ABE68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07605-33A9-4366-BC26-EFC0847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30751-0087-447B-89EC-81C1F53F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Aprofunde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F3D1C-7740-4DD3-8D6E-4F06A598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Confirme riscos, estratégia e adequação ao seu perfil.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B6EAD-8B04-451F-8C8F-397EA3E7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239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263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9CD37-0550-4931-B06F-72E11C8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659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O Radar não diz o que comprar.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Ele organiza por onde começar.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4c8d7a9974477"/>
          <a:srcRect xmlns:a="http://schemas.openxmlformats.org/drawingml/2006/main" l="0" t="8357" r="0" b="8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45339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186B5-B341-40C1-827A-2A524DCD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Ítalo Petricioni Statonato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A9F74-5026-4026-9C04-3AD1BAB7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Dados • automação • análise quantitativa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FFB1E-6185-45FF-92DD-CD64B92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10250"/>
            <a:ext cx="3105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C7018-876E-466E-9D24-72B3B510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102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11827"/>
                </a:solidFill>
                <a:latin typeface="Roboto"/>
                <a:ea typeface="Roboto"/>
                <a:cs typeface="Roboto"/>
                <a:hlinkClick xmlns:r="http://schemas.openxmlformats.org/officeDocument/2006/relationships" r:id="R6c0eeb22358042ea"/>
              </a:rPr>
              <a:t>Abrir o dashboard ↗</a:t>
            </a:r>
          </a:p>
        </p:txBody>
      </p:sp>
    </p:spTree>
    <p:extLst>
      <p:ext uri="{BB962C8B-B14F-4D97-AF65-F5344CB8AC3E}">
        <p14:creationId xmlns:p14="http://schemas.microsoft.com/office/powerpoint/2010/main" val="414014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CE8664-4722-4AD4-A621-152C3047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F661F-F0E2-4CC3-87C2-6DF187D6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APÊNDICE • GUIA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EFC9E-71BF-4D97-A3A4-35C7F4A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6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Padrão visual do Radar Semanal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85402-B286-4BED-B021-09C3922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Um sistema simples para manter site, apresentações e posts reconhecíveis.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D3CBF-B116-4BC9-B206-0E7ADAAC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8392AA"/>
                </a:solidFill>
                <a:latin typeface="Roboto"/>
                <a:ea typeface="Roboto"/>
                <a:cs typeface="Robot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51884-A1F1-48DA-BD8C-33939175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PALETA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E21C4-DA69-47A0-846C-B4AF3522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70A12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88B5F-3DFE-45C6-8382-A352A9F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Fundo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A446B-53B0-4712-85D2-774C9DC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#070A12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806D5-C862-4788-B792-9868C68C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6CE06-8A52-4B24-BDA4-F282AE48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Superfície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06754-FDD6-4830-BD44-0BB7195B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#111A2D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E10F2-6A89-41FB-8BAC-BAAF6463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3BE72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B4556-4683-4120-9085-6626DE25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Destaque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C901D-A33B-4228-B05E-ABEE7E3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#E3BE72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FFF59-4045-45C3-96F1-74F8577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54C7FF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D7B1C-730D-49EB-B981-07486F0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765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Ações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1E1C1-11ED-4E92-A2AA-EB13817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#54C7FF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8DE85-2D99-4699-B772-B6317F06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C5C9A-1643-45B5-8E99-9F2F2067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FIIs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C6BF9-0368-4A4A-97B5-8985B4AA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#A78BFA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8CA07-0509-492E-BA40-C2659D9F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A032F-F102-4867-9ECC-F7817AD7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Positivo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C7443-1A13-43C6-8C11-35ADC422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#34D399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C4F28-A45B-46DE-82AF-260DF674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53757-6E5A-4439-88F4-3F7F0404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Negativo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0EAD5-3663-4359-9A5A-07CEF10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#FB7185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0BE9F-7DB8-49E7-9AF0-4DEB510D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052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2635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B672D-1497-4B86-9670-08AC4F8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43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Texto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144E0-0DCA-4A6B-8725-A46530E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71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8392AA"/>
                </a:solidFill>
                <a:latin typeface="Roboto"/>
                <a:ea typeface="Roboto"/>
                <a:cs typeface="Roboto"/>
              </a:rPr>
              <a:t>#F5F7FB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E9E8E-1757-409F-9C50-2B7D6736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01522-C1B5-419C-8006-2EC4A6A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TIPOGRAFIA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EC206-A9C9-4195-87EF-C8C9142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3000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Roboto Bold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BC024-7BBF-4FB7-94CC-BFC8EE58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Títulos diretos, uma ideia por slide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1A720D-E0C8-4131-9EBE-AC2081A4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F5F7FB"/>
                </a:solidFill>
                <a:latin typeface="Roboto"/>
                <a:ea typeface="Roboto"/>
                <a:cs typeface="Roboto"/>
              </a:rPr>
              <a:t>Roboto Regular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F1973D-94DD-42E8-A984-FD18DE1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9CA9BF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9CA9BF"/>
                </a:solidFill>
                <a:latin typeface="Roboto"/>
                <a:ea typeface="Roboto"/>
                <a:cs typeface="Roboto"/>
              </a:rPr>
              <a:t>Texto curto, concreto e sem jargão desnecessário.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F5D9E8-CD2C-410D-97D3-0155D99A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E3BE72"/>
                </a:solidFill>
                <a:latin typeface="Roboto"/>
                <a:ea typeface="Roboto"/>
                <a:cs typeface="Roboto"/>
              </a:rPr>
              <a:t>COMPOSIÇÃO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E6BFB7-33C2-41CF-B9C3-46AC05E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DD108-36AC-429D-860B-6D74297D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49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16:9 • margens de 72 px • ritmo em múltiplos de 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BE4DB3-321E-4E01-9C18-236A653C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D8CFF7-D986-46E4-B4FF-1F4561B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Cantos de 24 px • bordas discretas • fundo sempre escuro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17C783-7245-4033-909D-D819BCA9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76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51A035-4C90-489B-984B-1D83B39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007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Dourado = ênfase; ciano = ações; roxo = FIIs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F66F45-4331-46B9-8488-0E13A3D9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1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684EB7-1173-4304-A9BB-1897F74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43600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5F7FB"/>
                </a:solidFill>
                <a:latin typeface="Roboto"/>
                <a:ea typeface="Roboto"/>
                <a:cs typeface="Roboto"/>
              </a:rPr>
              <a:t>Verde e vermelho só para estados positivos e negativos</a:t>
            </a:r>
          </a:p>
        </p:txBody>
      </p:sp>
    </p:spTree>
    <p:extLst>
      <p:ext uri="{BB962C8B-B14F-4D97-AF65-F5344CB8AC3E}">
        <p14:creationId xmlns:p14="http://schemas.microsoft.com/office/powerpoint/2010/main" val="218754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dar Semanal — Roboto">
      <a:majorFont>
        <a:latin typeface="Roboto"/>
        <a:ea typeface="Roboto"/>
        <a:cs typeface="Roboto"/>
      </a:majorFont>
      <a:minorFont>
        <a:latin typeface="Roboto"/>
        <a:ea typeface="Roboto"/>
        <a:cs typeface="Roboto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2026-09-03T11:51:57.5930000Z</dcterms:created>
  <dcterms:modified xsi:type="dcterms:W3CDTF">2026-09-03T11:51:57.5930000Z</dcterms:modified>
</coreProperties>
</file>